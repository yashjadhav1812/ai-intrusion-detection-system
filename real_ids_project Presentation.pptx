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 bwMode="auto">
            <a:prstGeom prst="rect">
              <a:avLst/>
            </a:prstGeom>
            <a:solidFill>
              <a:srgbClr val="FF3E3E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FF3E3E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00FF88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FF3E3E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00FF88"/>
              </a:solidFill>
              <a:effectLst/>
            </c:spPr>
          </c:dPt>
          <c:dLbls>
            <c:dLblPos val="outEnd"/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Sheet1!$A$2:$A$5</c:f>
              <c:strCache>
                <c:ptCount val="4"/>
                <c:pt idx="0">
                  <c:v>DrDoS_DNS
(original)</c:v>
                </c:pt>
                <c:pt idx="1">
                  <c:v>BENIGN
(original)</c:v>
                </c:pt>
                <c:pt idx="2">
                  <c:v>DrDoS_DNS
(balanced)</c:v>
                </c:pt>
                <c:pt idx="3">
                  <c:v>BENIGN
(balanced)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32797</c:v>
                </c:pt>
                <c:pt idx="1">
                  <c:v>1128</c:v>
                </c:pt>
                <c:pt idx="2">
                  <c:v>10000</c:v>
                </c:pt>
                <c:pt idx="3">
                  <c:v>10000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1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>
                <a:solidFill>
                  <a:srgbClr val="C8D8E8"/>
                </a:solidFill>
                <a:latin typeface="Arial"/>
                <a:ea typeface="+mn-ea"/>
                <a:cs typeface="+mn-cs"/>
              </a:defRPr>
            </a:pPr>
            <a:endParaRPr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 cmpd="sng" algn="ctr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>
                <a:solidFill>
                  <a:srgbClr val="C8D8E8"/>
                </a:solidFill>
                <a:latin typeface="Arial"/>
                <a:ea typeface="+mn-ea"/>
                <a:cs typeface="+mn-cs"/>
              </a:defRPr>
            </a:pPr>
            <a:endParaRPr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274320" y="3154680"/>
      <a:ext cx="5303520" cy="1691640"/>
    </a:xfrm>
    <a:prstGeom prst="rect">
      <a:avLst/>
    </a:prstGeom>
    <a:solidFill>
      <a:srgbClr val="0D1B2A"/>
    </a:solidFill>
    <a:ln>
      <a:noFill/>
    </a:ln>
    <a:effectLst/>
  </c:spPr>
  <c:txPr>
    <a:bodyPr/>
    <a:lstStyle/>
    <a:p>
      <a:pPr>
        <a:defRPr lang="en-US"/>
      </a:pPr>
      <a:endParaRPr/>
    </a:p>
  </c:tx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9262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576332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33672172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3458191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23325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39398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013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6526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162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893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99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479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740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112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06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875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7898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7831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17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4472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202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867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9571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7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660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169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5622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752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826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6607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522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722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4633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995723" name="Shape 1"/>
          <p:cNvSpPr/>
          <p:nvPr/>
        </p:nvSpPr>
        <p:spPr bwMode="auto"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15823774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30796286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86821421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17213861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94718657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86548078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96676603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74502459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89578764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23440622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02665348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2749130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649487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90098889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76640045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19323559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21172896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38549795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9131721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21253304" name="Text 25"/>
          <p:cNvSpPr/>
          <p:nvPr/>
        </p:nvSpPr>
        <p:spPr bwMode="auto">
          <a:xfrm>
            <a:off x="457200" y="11658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AI INTRUSION</a:t>
            </a:r>
            <a:endParaRPr lang="en-US" sz="4400"/>
          </a:p>
        </p:txBody>
      </p:sp>
      <p:sp>
        <p:nvSpPr>
          <p:cNvPr id="1959764871" name="Text 26"/>
          <p:cNvSpPr/>
          <p:nvPr/>
        </p:nvSpPr>
        <p:spPr bwMode="auto">
          <a:xfrm>
            <a:off x="457200" y="18059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 spc="60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DETECTION SYSTEM</a:t>
            </a:r>
            <a:endParaRPr lang="en-US" sz="2800"/>
          </a:p>
        </p:txBody>
      </p:sp>
      <p:sp>
        <p:nvSpPr>
          <p:cNvPr id="1142327808" name="Text 27"/>
          <p:cNvSpPr/>
          <p:nvPr/>
        </p:nvSpPr>
        <p:spPr bwMode="auto">
          <a:xfrm>
            <a:off x="914400" y="2267585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Real-Time Network Threat Analysis using Machine Learning</a:t>
            </a:r>
            <a:endParaRPr lang="en-US" sz="1100"/>
          </a:p>
        </p:txBody>
      </p:sp>
      <p:sp>
        <p:nvSpPr>
          <p:cNvPr id="558958588" name="Shape 28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328076" name="Text 29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0" i="0" u="none" strike="noStrike" cap="none" spc="199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  <p:sp>
        <p:nvSpPr>
          <p:cNvPr id="618696150" name="Text Box 1"/>
          <p:cNvSpPr txBox="1"/>
          <p:nvPr/>
        </p:nvSpPr>
        <p:spPr bwMode="auto">
          <a:xfrm>
            <a:off x="454024" y="3473449"/>
            <a:ext cx="4118334" cy="91475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Project Domain: Cybersecurity</a:t>
            </a: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Team Members: </a:t>
            </a: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26661753" name="Picture 22" descr="Screenshot 2026-03-27 at 10.46.01 PM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3875" y="2541905"/>
            <a:ext cx="5556250" cy="698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408926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03105058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03444760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5710485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98011473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40700214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84878171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52195877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47314093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77014022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44071098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76359237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11955216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15777615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05177174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7132830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66390756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59924188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39617617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7757382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692866527" name="Shape 3"/>
          <p:cNvSpPr/>
          <p:nvPr/>
        </p:nvSpPr>
        <p:spPr bwMode="auto">
          <a:xfrm>
            <a:off x="400685" y="1048385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987139045" name="Text 5"/>
          <p:cNvSpPr/>
          <p:nvPr/>
        </p:nvSpPr>
        <p:spPr bwMode="auto">
          <a:xfrm>
            <a:off x="417195" y="168846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Annual cybercrime cost globally</a:t>
            </a:r>
            <a:endParaRPr lang="en-US" sz="1000"/>
          </a:p>
        </p:txBody>
      </p:sp>
      <p:sp>
        <p:nvSpPr>
          <p:cNvPr id="753443889" name="Shape 6"/>
          <p:cNvSpPr/>
          <p:nvPr/>
        </p:nvSpPr>
        <p:spPr bwMode="auto">
          <a:xfrm>
            <a:off x="3201035" y="1048385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  <p:txBody>
          <a:bodyPr/>
          <a:p>
            <a:pPr>
              <a:defRPr/>
            </a:pPr>
            <a:endParaRPr lang="en-US"/>
          </a:p>
        </p:txBody>
      </p:sp>
      <p:sp>
        <p:nvSpPr>
          <p:cNvPr id="1637322911" name="Text 8"/>
          <p:cNvSpPr/>
          <p:nvPr/>
        </p:nvSpPr>
        <p:spPr bwMode="auto">
          <a:xfrm>
            <a:off x="3209290" y="168846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Of all attacks are DDoS-based</a:t>
            </a:r>
            <a:endParaRPr lang="en-US" sz="1000"/>
          </a:p>
        </p:txBody>
      </p:sp>
      <p:sp>
        <p:nvSpPr>
          <p:cNvPr id="1269327825" name="Shape 9"/>
          <p:cNvSpPr/>
          <p:nvPr/>
        </p:nvSpPr>
        <p:spPr bwMode="auto">
          <a:xfrm>
            <a:off x="6052820" y="1048385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  <p:txBody>
          <a:bodyPr/>
          <a:p>
            <a:pPr>
              <a:defRPr/>
            </a:pPr>
            <a:endParaRPr lang="en-US"/>
          </a:p>
        </p:txBody>
      </p:sp>
      <p:sp>
        <p:nvSpPr>
          <p:cNvPr id="1054490174" name="Text 11"/>
          <p:cNvSpPr/>
          <p:nvPr/>
        </p:nvSpPr>
        <p:spPr bwMode="auto">
          <a:xfrm>
            <a:off x="6061075" y="1688465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Phishing emails sent every day</a:t>
            </a:r>
            <a:endParaRPr lang="en-US" sz="1000"/>
          </a:p>
        </p:txBody>
      </p:sp>
      <p:sp>
        <p:nvSpPr>
          <p:cNvPr id="521516310" name="Text 12"/>
          <p:cNvSpPr/>
          <p:nvPr/>
        </p:nvSpPr>
        <p:spPr bwMode="auto">
          <a:xfrm>
            <a:off x="457200" y="2863215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The Core Challenge</a:t>
            </a:r>
            <a:endParaRPr lang="en-US" sz="1400"/>
          </a:p>
        </p:txBody>
      </p:sp>
      <p:sp>
        <p:nvSpPr>
          <p:cNvPr id="1840158023" name="Text 13"/>
          <p:cNvSpPr/>
          <p:nvPr/>
        </p:nvSpPr>
        <p:spPr bwMode="auto">
          <a:xfrm>
            <a:off x="457200" y="3184525"/>
            <a:ext cx="8229600" cy="13843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400">
                <a:solidFill>
                  <a:srgbClr val="00D4FF"/>
                </a:solidFill>
                <a:latin typeface="Times New Roman"/>
                <a:ea typeface="Calibri"/>
                <a:cs typeface="Times New Roman"/>
              </a:rPr>
              <a:t>1. </a:t>
            </a:r>
            <a: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  <a:t>Traditional firewalls use static rules — they fail against new zero-day attacks</a:t>
            </a:r>
            <a:b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1400">
                <a:solidFill>
                  <a:srgbClr val="00D4FF"/>
                </a:solidFill>
                <a:latin typeface="Times New Roman"/>
                <a:ea typeface="Calibri"/>
                <a:cs typeface="Times New Roman"/>
              </a:rPr>
              <a:t>2. </a:t>
            </a:r>
            <a: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  <a:t>Manual monitoring is impossible at scale — millions of packets per second</a:t>
            </a:r>
            <a:b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1400">
                <a:solidFill>
                  <a:srgbClr val="00D4FF"/>
                </a:solidFill>
                <a:latin typeface="Times New Roman"/>
                <a:ea typeface="Calibri"/>
                <a:cs typeface="Times New Roman"/>
              </a:rPr>
              <a:t>3. </a:t>
            </a:r>
            <a: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  <a:t>DDoS and DNS amplification attacks can take down entire networks within minutes</a:t>
            </a:r>
            <a:b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1400">
                <a:solidFill>
                  <a:srgbClr val="00D4FF"/>
                </a:solidFill>
                <a:latin typeface="Times New Roman"/>
                <a:ea typeface="Calibri"/>
                <a:cs typeface="Times New Roman"/>
              </a:rPr>
              <a:t>4. </a:t>
            </a:r>
            <a:r>
              <a:rPr lang="en-US" sz="1400">
                <a:solidFill>
                  <a:srgbClr val="C8D8E8"/>
                </a:solidFill>
                <a:latin typeface="Times New Roman"/>
                <a:ea typeface="Calibri"/>
                <a:cs typeface="Times New Roman"/>
              </a:rPr>
              <a:t>Existing tools cannot automatically block attacking IPs in real time</a:t>
            </a:r>
            <a:endParaRPr lang="en-US" sz="1400">
              <a:solidFill>
                <a:srgbClr val="C8D8E8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50173620" name="Shape 14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91812746" name="Text 15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  <p:sp>
        <p:nvSpPr>
          <p:cNvPr id="562315466" name="Text 1"/>
          <p:cNvSpPr/>
          <p:nvPr/>
        </p:nvSpPr>
        <p:spPr bwMode="auto">
          <a:xfrm>
            <a:off x="457200" y="23939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PROBLEM STATEMENT</a:t>
            </a:r>
            <a:endParaRPr lang="en-US" sz="2200"/>
          </a:p>
        </p:txBody>
      </p:sp>
      <p:sp>
        <p:nvSpPr>
          <p:cNvPr id="48515391" name="Text 7"/>
          <p:cNvSpPr/>
          <p:nvPr/>
        </p:nvSpPr>
        <p:spPr bwMode="auto">
          <a:xfrm>
            <a:off x="3226435" y="1142365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0D4FF"/>
                </a:solidFill>
                <a:latin typeface="Arial Black"/>
                <a:ea typeface="Arial Black"/>
                <a:cs typeface="Arial Black"/>
              </a:rPr>
              <a:t>33%</a:t>
            </a:r>
            <a:endParaRPr lang="en-US" sz="3200"/>
          </a:p>
        </p:txBody>
      </p:sp>
      <p:sp>
        <p:nvSpPr>
          <p:cNvPr id="2091511757" name="Text 4"/>
          <p:cNvSpPr/>
          <p:nvPr/>
        </p:nvSpPr>
        <p:spPr bwMode="auto">
          <a:xfrm>
            <a:off x="408940" y="1142365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3E3E"/>
                </a:solidFill>
                <a:latin typeface="Arial Black"/>
                <a:ea typeface="Arial Black"/>
                <a:cs typeface="Arial Black"/>
              </a:rPr>
              <a:t>$10.5T</a:t>
            </a:r>
            <a:endParaRPr lang="en-US" sz="3200"/>
          </a:p>
        </p:txBody>
      </p:sp>
      <p:sp>
        <p:nvSpPr>
          <p:cNvPr id="237739306" name="Text 10"/>
          <p:cNvSpPr/>
          <p:nvPr/>
        </p:nvSpPr>
        <p:spPr bwMode="auto">
          <a:xfrm>
            <a:off x="6043930" y="1142365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B800"/>
                </a:solidFill>
                <a:latin typeface="Arial Black"/>
                <a:ea typeface="Arial Black"/>
                <a:cs typeface="Arial Black"/>
              </a:rPr>
              <a:t>3.4B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140988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39110129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90059827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40349499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68670030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19414360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28726687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92220662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5704748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55343428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9500312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28572718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55532368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2385689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37793240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67047693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83264944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79834543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93663482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31828896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OUR SOLUTION</a:t>
            </a:r>
            <a:endParaRPr lang="en-US" sz="2200"/>
          </a:p>
        </p:txBody>
      </p:sp>
      <p:sp>
        <p:nvSpPr>
          <p:cNvPr id="1614876716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047680447" name="Text 3"/>
          <p:cNvSpPr/>
          <p:nvPr/>
        </p:nvSpPr>
        <p:spPr bwMode="auto"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An AI-powered real-time IDS that captures live network traffic, detects attacks using Machine Learning, and automatically blocks malicious IPs via the OS firewall.</a:t>
            </a:r>
            <a:endParaRPr lang="en-US" sz="1200"/>
          </a:p>
        </p:txBody>
      </p:sp>
      <p:sp>
        <p:nvSpPr>
          <p:cNvPr id="2115471614" name="Shape 4"/>
          <p:cNvSpPr/>
          <p:nvPr/>
        </p:nvSpPr>
        <p:spPr bwMode="auto">
          <a:xfrm>
            <a:off x="274320" y="146304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379276728" name="Text 5"/>
          <p:cNvSpPr/>
          <p:nvPr/>
        </p:nvSpPr>
        <p:spPr bwMode="auto">
          <a:xfrm>
            <a:off x="274320" y="155448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Packet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Capture</a:t>
            </a:r>
            <a:endParaRPr lang="en-US" sz="1200"/>
          </a:p>
        </p:txBody>
      </p:sp>
      <p:sp>
        <p:nvSpPr>
          <p:cNvPr id="127884161" name="Text 6"/>
          <p:cNvSpPr/>
          <p:nvPr/>
        </p:nvSpPr>
        <p:spPr bwMode="auto">
          <a:xfrm>
            <a:off x="274320" y="21945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Scapy en0</a:t>
            </a:r>
            <a:endParaRPr lang="en-US" sz="900"/>
          </a:p>
        </p:txBody>
      </p:sp>
      <p:sp>
        <p:nvSpPr>
          <p:cNvPr id="2093270942" name="Shape 7"/>
          <p:cNvSpPr/>
          <p:nvPr/>
        </p:nvSpPr>
        <p:spPr bwMode="auto">
          <a:xfrm>
            <a:off x="2194560" y="20574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585130344" name="Text 8"/>
          <p:cNvSpPr/>
          <p:nvPr/>
        </p:nvSpPr>
        <p:spPr bwMode="auto">
          <a:xfrm>
            <a:off x="2240280" y="196596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D4FF"/>
                </a:solidFill>
              </a:rPr>
              <a:t>▶</a:t>
            </a:r>
            <a:endParaRPr lang="en-US" sz="1000"/>
          </a:p>
        </p:txBody>
      </p:sp>
      <p:sp>
        <p:nvSpPr>
          <p:cNvPr id="484903209" name="Shape 9"/>
          <p:cNvSpPr/>
          <p:nvPr/>
        </p:nvSpPr>
        <p:spPr bwMode="auto">
          <a:xfrm>
            <a:off x="2468880" y="146304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641469165" name="Text 10"/>
          <p:cNvSpPr/>
          <p:nvPr/>
        </p:nvSpPr>
        <p:spPr bwMode="auto">
          <a:xfrm>
            <a:off x="2468880" y="155448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Extraction</a:t>
            </a:r>
            <a:endParaRPr lang="en-US" sz="1200"/>
          </a:p>
        </p:txBody>
      </p:sp>
      <p:sp>
        <p:nvSpPr>
          <p:cNvPr id="1794361047" name="Text 11"/>
          <p:cNvSpPr/>
          <p:nvPr/>
        </p:nvSpPr>
        <p:spPr bwMode="auto">
          <a:xfrm>
            <a:off x="2468880" y="21945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15 features</a:t>
            </a:r>
            <a:endParaRPr lang="en-US" sz="900"/>
          </a:p>
        </p:txBody>
      </p:sp>
      <p:sp>
        <p:nvSpPr>
          <p:cNvPr id="592717631" name="Shape 12"/>
          <p:cNvSpPr/>
          <p:nvPr/>
        </p:nvSpPr>
        <p:spPr bwMode="auto">
          <a:xfrm>
            <a:off x="4389120" y="20574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719490419" name="Text 13"/>
          <p:cNvSpPr/>
          <p:nvPr/>
        </p:nvSpPr>
        <p:spPr bwMode="auto">
          <a:xfrm>
            <a:off x="4434840" y="196596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D4FF"/>
                </a:solidFill>
              </a:rPr>
              <a:t>▶</a:t>
            </a:r>
            <a:endParaRPr lang="en-US" sz="1000"/>
          </a:p>
        </p:txBody>
      </p:sp>
      <p:sp>
        <p:nvSpPr>
          <p:cNvPr id="219752626" name="Shape 14"/>
          <p:cNvSpPr/>
          <p:nvPr/>
        </p:nvSpPr>
        <p:spPr bwMode="auto">
          <a:xfrm>
            <a:off x="4663440" y="146304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647234716" name="Text 15"/>
          <p:cNvSpPr/>
          <p:nvPr/>
        </p:nvSpPr>
        <p:spPr bwMode="auto">
          <a:xfrm>
            <a:off x="4663440" y="155448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Model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Prediction</a:t>
            </a:r>
            <a:endParaRPr lang="en-US" sz="1200"/>
          </a:p>
        </p:txBody>
      </p:sp>
      <p:sp>
        <p:nvSpPr>
          <p:cNvPr id="990647422" name="Text 16"/>
          <p:cNvSpPr/>
          <p:nvPr/>
        </p:nvSpPr>
        <p:spPr bwMode="auto">
          <a:xfrm>
            <a:off x="4663440" y="21945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00FF88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 sz="900"/>
          </a:p>
        </p:txBody>
      </p:sp>
      <p:sp>
        <p:nvSpPr>
          <p:cNvPr id="520590627" name="Shape 17"/>
          <p:cNvSpPr/>
          <p:nvPr/>
        </p:nvSpPr>
        <p:spPr bwMode="auto">
          <a:xfrm>
            <a:off x="6583680" y="2057400"/>
            <a:ext cx="2743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461074674" name="Text 18"/>
          <p:cNvSpPr/>
          <p:nvPr/>
        </p:nvSpPr>
        <p:spPr bwMode="auto">
          <a:xfrm>
            <a:off x="6629400" y="1965960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D4FF"/>
                </a:solidFill>
              </a:rPr>
              <a:t>▶</a:t>
            </a:r>
            <a:endParaRPr lang="en-US" sz="1000"/>
          </a:p>
        </p:txBody>
      </p:sp>
      <p:sp>
        <p:nvSpPr>
          <p:cNvPr id="1283400581" name="Shape 19"/>
          <p:cNvSpPr/>
          <p:nvPr/>
        </p:nvSpPr>
        <p:spPr bwMode="auto">
          <a:xfrm>
            <a:off x="6858000" y="146304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FF3E3E"/>
            </a:solidFill>
            <a:prstDash val="solid"/>
          </a:ln>
        </p:spPr>
      </p:sp>
      <p:sp>
        <p:nvSpPr>
          <p:cNvPr id="971216292" name="Text 20"/>
          <p:cNvSpPr/>
          <p:nvPr/>
        </p:nvSpPr>
        <p:spPr bwMode="auto">
          <a:xfrm>
            <a:off x="6858000" y="155448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Firewall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Blocking</a:t>
            </a:r>
            <a:endParaRPr lang="en-US" sz="1200"/>
          </a:p>
        </p:txBody>
      </p:sp>
      <p:sp>
        <p:nvSpPr>
          <p:cNvPr id="1920301688" name="Text 21"/>
          <p:cNvSpPr/>
          <p:nvPr/>
        </p:nvSpPr>
        <p:spPr bwMode="auto">
          <a:xfrm>
            <a:off x="6858000" y="21945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3E3E"/>
                </a:solidFill>
                <a:latin typeface="Calibri"/>
                <a:ea typeface="Calibri"/>
                <a:cs typeface="Calibri"/>
              </a:rPr>
              <a:t>Mac pfctl</a:t>
            </a:r>
            <a:endParaRPr lang="en-US" sz="900"/>
          </a:p>
        </p:txBody>
      </p:sp>
      <p:sp>
        <p:nvSpPr>
          <p:cNvPr id="1476320888" name="Shape 22"/>
          <p:cNvSpPr/>
          <p:nvPr/>
        </p:nvSpPr>
        <p:spPr bwMode="auto">
          <a:xfrm>
            <a:off x="274320" y="2834640"/>
            <a:ext cx="4114800" cy="82296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7018418" name="Text 23"/>
          <p:cNvSpPr/>
          <p:nvPr/>
        </p:nvSpPr>
        <p:spPr bwMode="auto">
          <a:xfrm>
            <a:off x="365760" y="28803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🔍 Real-Time Detection</a:t>
            </a:r>
            <a:endParaRPr lang="en-US" sz="1100"/>
          </a:p>
        </p:txBody>
      </p:sp>
      <p:sp>
        <p:nvSpPr>
          <p:cNvPr id="583558699" name="Text 24"/>
          <p:cNvSpPr/>
          <p:nvPr/>
        </p:nvSpPr>
        <p:spPr bwMode="auto">
          <a:xfrm>
            <a:off x="365760" y="315468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Analyzes packets every 2 seconds using Scapy on WiFi interface en0</a:t>
            </a:r>
            <a:endParaRPr lang="en-US" sz="900"/>
          </a:p>
        </p:txBody>
      </p:sp>
      <p:sp>
        <p:nvSpPr>
          <p:cNvPr id="879028198" name="Shape 25"/>
          <p:cNvSpPr/>
          <p:nvPr/>
        </p:nvSpPr>
        <p:spPr bwMode="auto">
          <a:xfrm>
            <a:off x="4709160" y="2834640"/>
            <a:ext cx="4114800" cy="82296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70748493" name="Text 26"/>
          <p:cNvSpPr/>
          <p:nvPr/>
        </p:nvSpPr>
        <p:spPr bwMode="auto">
          <a:xfrm>
            <a:off x="4800600" y="28803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🤖 ML Classification</a:t>
            </a:r>
            <a:endParaRPr lang="en-US" sz="1100"/>
          </a:p>
        </p:txBody>
      </p:sp>
      <p:sp>
        <p:nvSpPr>
          <p:cNvPr id="1293736774" name="Text 27"/>
          <p:cNvSpPr/>
          <p:nvPr/>
        </p:nvSpPr>
        <p:spPr bwMode="auto">
          <a:xfrm>
            <a:off x="4800600" y="315468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Random Forest trained on CIC-IDS 2017 dataset — 33,925 rows, 15 features</a:t>
            </a:r>
            <a:endParaRPr lang="en-US" sz="900"/>
          </a:p>
        </p:txBody>
      </p:sp>
      <p:sp>
        <p:nvSpPr>
          <p:cNvPr id="269472335" name="Shape 28"/>
          <p:cNvSpPr/>
          <p:nvPr/>
        </p:nvSpPr>
        <p:spPr bwMode="auto">
          <a:xfrm>
            <a:off x="274320" y="3840480"/>
            <a:ext cx="4114800" cy="82296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1579086" name="Text 29"/>
          <p:cNvSpPr/>
          <p:nvPr/>
        </p:nvSpPr>
        <p:spPr bwMode="auto">
          <a:xfrm>
            <a:off x="365760" y="38862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🛡️ Auto IP Blocking</a:t>
            </a:r>
            <a:endParaRPr lang="en-US" sz="1100"/>
          </a:p>
        </p:txBody>
      </p:sp>
      <p:sp>
        <p:nvSpPr>
          <p:cNvPr id="1104907363" name="Text 30"/>
          <p:cNvSpPr/>
          <p:nvPr/>
        </p:nvSpPr>
        <p:spPr bwMode="auto">
          <a:xfrm>
            <a:off x="365760" y="4160519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Detected attacks trigger Mac pf firewall to drop all packets from that IP</a:t>
            </a:r>
            <a:endParaRPr lang="en-US" sz="900"/>
          </a:p>
        </p:txBody>
      </p:sp>
      <p:sp>
        <p:nvSpPr>
          <p:cNvPr id="728853780" name="Shape 31"/>
          <p:cNvSpPr/>
          <p:nvPr/>
        </p:nvSpPr>
        <p:spPr bwMode="auto">
          <a:xfrm>
            <a:off x="4709160" y="3840480"/>
            <a:ext cx="4114800" cy="82296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12034697" name="Text 32"/>
          <p:cNvSpPr/>
          <p:nvPr/>
        </p:nvSpPr>
        <p:spPr bwMode="auto">
          <a:xfrm>
            <a:off x="4800600" y="38862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📊 Live Dashboard</a:t>
            </a:r>
            <a:endParaRPr lang="en-US" sz="1100"/>
          </a:p>
        </p:txBody>
      </p:sp>
      <p:sp>
        <p:nvSpPr>
          <p:cNvPr id="312223848" name="Text 33"/>
          <p:cNvSpPr/>
          <p:nvPr/>
        </p:nvSpPr>
        <p:spPr bwMode="auto">
          <a:xfrm>
            <a:off x="4800600" y="4160519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Real-time web monitor shows traffic, threats, and blocked IPs with stats</a:t>
            </a:r>
            <a:endParaRPr lang="en-US" sz="900"/>
          </a:p>
        </p:txBody>
      </p:sp>
      <p:sp>
        <p:nvSpPr>
          <p:cNvPr id="1507071388" name="Shape 34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81171911" name="Text 35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866042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7305850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93216474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96481237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10708203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21353334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53351103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13207227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14865560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27557691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94405120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729465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59363923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10394953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06496013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51552803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55702866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75285205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92727382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84318147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HOW IT WORKS</a:t>
            </a:r>
            <a:endParaRPr lang="en-US" sz="2200"/>
          </a:p>
        </p:txBody>
      </p:sp>
      <p:sp>
        <p:nvSpPr>
          <p:cNvPr id="1806691803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954900774" name="Shape 3"/>
          <p:cNvSpPr/>
          <p:nvPr/>
        </p:nvSpPr>
        <p:spPr bwMode="auto">
          <a:xfrm>
            <a:off x="274320" y="77724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39568677" name="Text 4"/>
          <p:cNvSpPr/>
          <p:nvPr/>
        </p:nvSpPr>
        <p:spPr bwMode="auto">
          <a:xfrm>
            <a:off x="274320" y="777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01</a:t>
            </a:r>
            <a:endParaRPr lang="en-US" sz="1300"/>
          </a:p>
        </p:txBody>
      </p:sp>
      <p:sp>
        <p:nvSpPr>
          <p:cNvPr id="1942092014" name="Shape 5"/>
          <p:cNvSpPr/>
          <p:nvPr/>
        </p:nvSpPr>
        <p:spPr bwMode="auto">
          <a:xfrm>
            <a:off x="960120" y="731520"/>
            <a:ext cx="786384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1198457" name="Text 6"/>
          <p:cNvSpPr/>
          <p:nvPr/>
        </p:nvSpPr>
        <p:spPr bwMode="auto">
          <a:xfrm>
            <a:off x="1051560" y="75895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Packet Capture</a:t>
            </a:r>
            <a:endParaRPr lang="en-US" sz="1100"/>
          </a:p>
        </p:txBody>
      </p:sp>
      <p:sp>
        <p:nvSpPr>
          <p:cNvPr id="2095020806" name="Text 7"/>
          <p:cNvSpPr/>
          <p:nvPr/>
        </p:nvSpPr>
        <p:spPr bwMode="auto">
          <a:xfrm>
            <a:off x="1051560" y="1024128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Scapy sniffs live packets from WiFi (en0). Every 2 seconds, flows are computed from captured TCP/UDP packets.</a:t>
            </a:r>
            <a:endParaRPr lang="en-US" sz="900"/>
          </a:p>
        </p:txBody>
      </p:sp>
      <p:sp>
        <p:nvSpPr>
          <p:cNvPr id="864985304" name="Shape 8"/>
          <p:cNvSpPr/>
          <p:nvPr/>
        </p:nvSpPr>
        <p:spPr bwMode="auto">
          <a:xfrm>
            <a:off x="274320" y="1600200"/>
            <a:ext cx="502920" cy="502920"/>
          </a:xfrm>
          <a:prstGeom prst="rect">
            <a:avLst/>
          </a:prstGeom>
          <a:solidFill>
            <a:srgbClr val="00B8E6"/>
          </a:solidFill>
          <a:ln w="12700">
            <a:solidFill>
              <a:srgbClr val="00B8E6"/>
            </a:solidFill>
            <a:prstDash val="solid"/>
          </a:ln>
        </p:spPr>
      </p:sp>
      <p:sp>
        <p:nvSpPr>
          <p:cNvPr id="1859723179" name="Text 9"/>
          <p:cNvSpPr/>
          <p:nvPr/>
        </p:nvSpPr>
        <p:spPr bwMode="auto">
          <a:xfrm>
            <a:off x="274320" y="1600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02</a:t>
            </a:r>
            <a:endParaRPr lang="en-US" sz="1300"/>
          </a:p>
        </p:txBody>
      </p:sp>
      <p:sp>
        <p:nvSpPr>
          <p:cNvPr id="2123412800" name="Shape 10"/>
          <p:cNvSpPr/>
          <p:nvPr/>
        </p:nvSpPr>
        <p:spPr bwMode="auto">
          <a:xfrm>
            <a:off x="960120" y="1554480"/>
            <a:ext cx="786384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00B8E6"/>
            </a:solidFill>
            <a:prstDash val="solid"/>
          </a:ln>
        </p:spPr>
      </p:sp>
      <p:sp>
        <p:nvSpPr>
          <p:cNvPr id="590567169" name="Text 11"/>
          <p:cNvSpPr/>
          <p:nvPr/>
        </p:nvSpPr>
        <p:spPr bwMode="auto">
          <a:xfrm>
            <a:off x="1051560" y="158191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B8E6"/>
                </a:solidFill>
                <a:latin typeface="Calibri"/>
                <a:ea typeface="Calibri"/>
                <a:cs typeface="Calibri"/>
              </a:rPr>
              <a:t>Feature Extraction</a:t>
            </a:r>
            <a:endParaRPr lang="en-US" sz="1100"/>
          </a:p>
        </p:txBody>
      </p:sp>
      <p:sp>
        <p:nvSpPr>
          <p:cNvPr id="976311200" name="Text 12"/>
          <p:cNvSpPr/>
          <p:nvPr/>
        </p:nvSpPr>
        <p:spPr bwMode="auto">
          <a:xfrm>
            <a:off x="1051560" y="1847088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15 CIC-IDS features extracted: protocol, flow duration, packet counts, lengths, IAT means, bytes/sec rates.</a:t>
            </a:r>
            <a:endParaRPr lang="en-US" sz="900"/>
          </a:p>
        </p:txBody>
      </p:sp>
      <p:sp>
        <p:nvSpPr>
          <p:cNvPr id="347268345" name="Shape 13"/>
          <p:cNvSpPr/>
          <p:nvPr/>
        </p:nvSpPr>
        <p:spPr bwMode="auto">
          <a:xfrm>
            <a:off x="274320" y="2423160"/>
            <a:ext cx="502920" cy="5029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7389629" name="Text 14"/>
          <p:cNvSpPr/>
          <p:nvPr/>
        </p:nvSpPr>
        <p:spPr bwMode="auto">
          <a:xfrm>
            <a:off x="274320" y="24231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03</a:t>
            </a:r>
            <a:endParaRPr lang="en-US" sz="1300"/>
          </a:p>
        </p:txBody>
      </p:sp>
      <p:sp>
        <p:nvSpPr>
          <p:cNvPr id="1535093451" name="Shape 15"/>
          <p:cNvSpPr/>
          <p:nvPr/>
        </p:nvSpPr>
        <p:spPr bwMode="auto">
          <a:xfrm>
            <a:off x="960120" y="2377440"/>
            <a:ext cx="786384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339248175" name="Text 16"/>
          <p:cNvSpPr/>
          <p:nvPr/>
        </p:nvSpPr>
        <p:spPr bwMode="auto">
          <a:xfrm>
            <a:off x="1051560" y="240487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FF88"/>
                </a:solidFill>
                <a:latin typeface="Calibri"/>
                <a:ea typeface="Calibri"/>
                <a:cs typeface="Calibri"/>
              </a:rPr>
              <a:t>ML Prediction</a:t>
            </a:r>
            <a:endParaRPr lang="en-US" sz="1100"/>
          </a:p>
        </p:txBody>
      </p:sp>
      <p:sp>
        <p:nvSpPr>
          <p:cNvPr id="981311101" name="Text 17"/>
          <p:cNvSpPr/>
          <p:nvPr/>
        </p:nvSpPr>
        <p:spPr bwMode="auto">
          <a:xfrm>
            <a:off x="1051560" y="2670048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Random Forest model classifies each flow as BENIGN or DrDoS_DNS with confidence score.</a:t>
            </a:r>
            <a:endParaRPr lang="en-US" sz="900"/>
          </a:p>
        </p:txBody>
      </p:sp>
      <p:sp>
        <p:nvSpPr>
          <p:cNvPr id="1424598589" name="Shape 18"/>
          <p:cNvSpPr/>
          <p:nvPr/>
        </p:nvSpPr>
        <p:spPr bwMode="auto">
          <a:xfrm>
            <a:off x="274320" y="3246120"/>
            <a:ext cx="502920" cy="50292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1270376796" name="Text 19"/>
          <p:cNvSpPr/>
          <p:nvPr/>
        </p:nvSpPr>
        <p:spPr bwMode="auto">
          <a:xfrm>
            <a:off x="274320" y="3246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04</a:t>
            </a:r>
            <a:endParaRPr lang="en-US" sz="1300"/>
          </a:p>
        </p:txBody>
      </p:sp>
      <p:sp>
        <p:nvSpPr>
          <p:cNvPr id="1142868025" name="Shape 20"/>
          <p:cNvSpPr/>
          <p:nvPr/>
        </p:nvSpPr>
        <p:spPr bwMode="auto">
          <a:xfrm>
            <a:off x="960120" y="3200400"/>
            <a:ext cx="786384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FF3E3E"/>
            </a:solidFill>
            <a:prstDash val="solid"/>
          </a:ln>
        </p:spPr>
      </p:sp>
      <p:sp>
        <p:nvSpPr>
          <p:cNvPr id="722277159" name="Text 21"/>
          <p:cNvSpPr/>
          <p:nvPr/>
        </p:nvSpPr>
        <p:spPr bwMode="auto">
          <a:xfrm>
            <a:off x="1051560" y="322783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3E3E"/>
                </a:solidFill>
                <a:latin typeface="Calibri"/>
                <a:ea typeface="Calibri"/>
                <a:cs typeface="Calibri"/>
              </a:rPr>
              <a:t>Auto Block</a:t>
            </a:r>
            <a:endParaRPr lang="en-US" sz="1100"/>
          </a:p>
        </p:txBody>
      </p:sp>
      <p:sp>
        <p:nvSpPr>
          <p:cNvPr id="351007249" name="Text 22"/>
          <p:cNvSpPr/>
          <p:nvPr/>
        </p:nvSpPr>
        <p:spPr bwMode="auto">
          <a:xfrm>
            <a:off x="1051560" y="3493008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Attack detected → pfctl adds IP to blocked_ips table → Mac firewall drops all packets from attacker.</a:t>
            </a:r>
            <a:endParaRPr lang="en-US" sz="900"/>
          </a:p>
        </p:txBody>
      </p:sp>
      <p:sp>
        <p:nvSpPr>
          <p:cNvPr id="1026671430" name="Shape 23"/>
          <p:cNvSpPr/>
          <p:nvPr/>
        </p:nvSpPr>
        <p:spPr bwMode="auto">
          <a:xfrm>
            <a:off x="274320" y="4069080"/>
            <a:ext cx="502920" cy="502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67038332" name="Text 24"/>
          <p:cNvSpPr/>
          <p:nvPr/>
        </p:nvSpPr>
        <p:spPr bwMode="auto">
          <a:xfrm>
            <a:off x="274320" y="40690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05</a:t>
            </a:r>
            <a:endParaRPr lang="en-US" sz="1300"/>
          </a:p>
        </p:txBody>
      </p:sp>
      <p:sp>
        <p:nvSpPr>
          <p:cNvPr id="557840821" name="Shape 25"/>
          <p:cNvSpPr/>
          <p:nvPr/>
        </p:nvSpPr>
        <p:spPr bwMode="auto">
          <a:xfrm>
            <a:off x="960120" y="4023360"/>
            <a:ext cx="786384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07993464" name="Text 26"/>
          <p:cNvSpPr/>
          <p:nvPr/>
        </p:nvSpPr>
        <p:spPr bwMode="auto">
          <a:xfrm>
            <a:off x="1051560" y="40507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B800"/>
                </a:solidFill>
                <a:latin typeface="Calibri"/>
                <a:ea typeface="Calibri"/>
                <a:cs typeface="Calibri"/>
              </a:rPr>
              <a:t>Live Monitor</a:t>
            </a:r>
            <a:endParaRPr lang="en-US" sz="1100"/>
          </a:p>
        </p:txBody>
      </p:sp>
      <p:sp>
        <p:nvSpPr>
          <p:cNvPr id="1863195608" name="Text 27"/>
          <p:cNvSpPr/>
          <p:nvPr/>
        </p:nvSpPr>
        <p:spPr bwMode="auto">
          <a:xfrm>
            <a:off x="1051560" y="4315968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Flask web app + JavaScript polls /api/live_feed every second → displays real IPs and status.</a:t>
            </a:r>
            <a:endParaRPr lang="en-US" sz="900"/>
          </a:p>
        </p:txBody>
      </p:sp>
      <p:sp>
        <p:nvSpPr>
          <p:cNvPr id="1177531222" name="Shape 28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33817228" name="Text 29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210119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65604732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2544811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496261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3812341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75416504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65453475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35466411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83039742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47434001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75885311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4167930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33596767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90136554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1885757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35686860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65787240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93079728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21568139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40482762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TECH STACK</a:t>
            </a:r>
            <a:endParaRPr lang="en-US" sz="2200"/>
          </a:p>
        </p:txBody>
      </p:sp>
      <p:sp>
        <p:nvSpPr>
          <p:cNvPr id="926287856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55554797" name="Shape 3"/>
          <p:cNvSpPr/>
          <p:nvPr/>
        </p:nvSpPr>
        <p:spPr bwMode="auto">
          <a:xfrm>
            <a:off x="274320" y="777240"/>
            <a:ext cx="2743200" cy="3657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38298422" name="Text 4"/>
          <p:cNvSpPr/>
          <p:nvPr/>
        </p:nvSpPr>
        <p:spPr bwMode="auto">
          <a:xfrm>
            <a:off x="274320" y="7772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60B14"/>
                </a:solidFill>
                <a:latin typeface="Calibri"/>
                <a:ea typeface="Calibri"/>
                <a:cs typeface="Calibri"/>
              </a:rPr>
              <a:t>Machine Learning</a:t>
            </a:r>
            <a:endParaRPr lang="en-US" sz="1100"/>
          </a:p>
        </p:txBody>
      </p:sp>
      <p:sp>
        <p:nvSpPr>
          <p:cNvPr id="1831286979" name="Shape 5"/>
          <p:cNvSpPr/>
          <p:nvPr/>
        </p:nvSpPr>
        <p:spPr bwMode="auto">
          <a:xfrm>
            <a:off x="274320" y="1143000"/>
            <a:ext cx="2743200" cy="3200400"/>
          </a:xfrm>
          <a:prstGeom prst="rect">
            <a:avLst/>
          </a:prstGeom>
          <a:solidFill>
            <a:srgbClr val="0D1B2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869782737" name="Shape 6"/>
          <p:cNvSpPr/>
          <p:nvPr/>
        </p:nvSpPr>
        <p:spPr bwMode="auto">
          <a:xfrm>
            <a:off x="365760" y="1234440"/>
            <a:ext cx="73152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3279864" name="Text 7"/>
          <p:cNvSpPr/>
          <p:nvPr/>
        </p:nvSpPr>
        <p:spPr bwMode="auto">
          <a:xfrm>
            <a:off x="530352" y="12344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Python 3.x — Core language</a:t>
            </a:r>
            <a:endParaRPr lang="en-US" sz="1000"/>
          </a:p>
        </p:txBody>
      </p:sp>
      <p:sp>
        <p:nvSpPr>
          <p:cNvPr id="427861668" name="Shape 8"/>
          <p:cNvSpPr/>
          <p:nvPr/>
        </p:nvSpPr>
        <p:spPr bwMode="auto">
          <a:xfrm>
            <a:off x="365760" y="1828800"/>
            <a:ext cx="73152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72508867" name="Text 9"/>
          <p:cNvSpPr/>
          <p:nvPr/>
        </p:nvSpPr>
        <p:spPr bwMode="auto">
          <a:xfrm>
            <a:off x="530352" y="182880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Scikit-learn — Random Forest</a:t>
            </a:r>
            <a:endParaRPr lang="en-US" sz="1000"/>
          </a:p>
        </p:txBody>
      </p:sp>
      <p:sp>
        <p:nvSpPr>
          <p:cNvPr id="1403854001" name="Shape 10"/>
          <p:cNvSpPr/>
          <p:nvPr/>
        </p:nvSpPr>
        <p:spPr bwMode="auto">
          <a:xfrm>
            <a:off x="365760" y="2423160"/>
            <a:ext cx="73152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31190997" name="Text 11"/>
          <p:cNvSpPr/>
          <p:nvPr/>
        </p:nvSpPr>
        <p:spPr bwMode="auto">
          <a:xfrm>
            <a:off x="530352" y="24231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Pandas — Data processing</a:t>
            </a:r>
            <a:endParaRPr lang="en-US" sz="1000"/>
          </a:p>
        </p:txBody>
      </p:sp>
      <p:sp>
        <p:nvSpPr>
          <p:cNvPr id="681914040" name="Shape 12"/>
          <p:cNvSpPr/>
          <p:nvPr/>
        </p:nvSpPr>
        <p:spPr bwMode="auto">
          <a:xfrm>
            <a:off x="365760" y="3017519"/>
            <a:ext cx="73152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8827967" name="Text 13"/>
          <p:cNvSpPr/>
          <p:nvPr/>
        </p:nvSpPr>
        <p:spPr bwMode="auto">
          <a:xfrm>
            <a:off x="530352" y="3017519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NumPy — Computations</a:t>
            </a:r>
            <a:endParaRPr lang="en-US" sz="1000"/>
          </a:p>
        </p:txBody>
      </p:sp>
      <p:sp>
        <p:nvSpPr>
          <p:cNvPr id="1554358" name="Shape 14"/>
          <p:cNvSpPr/>
          <p:nvPr/>
        </p:nvSpPr>
        <p:spPr bwMode="auto">
          <a:xfrm>
            <a:off x="365760" y="3611880"/>
            <a:ext cx="73152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72734830" name="Text 15"/>
          <p:cNvSpPr/>
          <p:nvPr/>
        </p:nvSpPr>
        <p:spPr bwMode="auto">
          <a:xfrm>
            <a:off x="530352" y="361188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Pickle — Model storage</a:t>
            </a:r>
            <a:endParaRPr lang="en-US" sz="1000"/>
          </a:p>
        </p:txBody>
      </p:sp>
      <p:sp>
        <p:nvSpPr>
          <p:cNvPr id="806078002" name="Shape 16"/>
          <p:cNvSpPr/>
          <p:nvPr/>
        </p:nvSpPr>
        <p:spPr bwMode="auto">
          <a:xfrm>
            <a:off x="3200400" y="777240"/>
            <a:ext cx="274320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03869093" name="Text 17"/>
          <p:cNvSpPr/>
          <p:nvPr/>
        </p:nvSpPr>
        <p:spPr bwMode="auto">
          <a:xfrm>
            <a:off x="3200400" y="7772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60B14"/>
                </a:solidFill>
                <a:latin typeface="Calibri"/>
                <a:ea typeface="Calibri"/>
                <a:cs typeface="Calibri"/>
              </a:rPr>
              <a:t>Web Application</a:t>
            </a:r>
            <a:endParaRPr lang="en-US" sz="1100"/>
          </a:p>
        </p:txBody>
      </p:sp>
      <p:sp>
        <p:nvSpPr>
          <p:cNvPr id="1455381916" name="Shape 18"/>
          <p:cNvSpPr/>
          <p:nvPr/>
        </p:nvSpPr>
        <p:spPr bwMode="auto">
          <a:xfrm>
            <a:off x="3200400" y="1143000"/>
            <a:ext cx="2743200" cy="320040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41938424" name="Shape 19"/>
          <p:cNvSpPr/>
          <p:nvPr/>
        </p:nvSpPr>
        <p:spPr bwMode="auto">
          <a:xfrm>
            <a:off x="3291840" y="1234440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82209476" name="Text 20"/>
          <p:cNvSpPr/>
          <p:nvPr/>
        </p:nvSpPr>
        <p:spPr bwMode="auto">
          <a:xfrm>
            <a:off x="3456432" y="12344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Flask — Python web server</a:t>
            </a:r>
            <a:endParaRPr lang="en-US" sz="1000"/>
          </a:p>
        </p:txBody>
      </p:sp>
      <p:sp>
        <p:nvSpPr>
          <p:cNvPr id="70046364" name="Shape 21"/>
          <p:cNvSpPr/>
          <p:nvPr/>
        </p:nvSpPr>
        <p:spPr bwMode="auto">
          <a:xfrm>
            <a:off x="3291840" y="1828800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41778151" name="Text 22"/>
          <p:cNvSpPr/>
          <p:nvPr/>
        </p:nvSpPr>
        <p:spPr bwMode="auto">
          <a:xfrm>
            <a:off x="3456432" y="182880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Jinja2 — HTML templating</a:t>
            </a:r>
            <a:endParaRPr lang="en-US" sz="1000"/>
          </a:p>
        </p:txBody>
      </p:sp>
      <p:sp>
        <p:nvSpPr>
          <p:cNvPr id="546586405" name="Shape 23"/>
          <p:cNvSpPr/>
          <p:nvPr/>
        </p:nvSpPr>
        <p:spPr bwMode="auto">
          <a:xfrm>
            <a:off x="3291840" y="2423160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1566760" name="Text 24"/>
          <p:cNvSpPr/>
          <p:nvPr/>
        </p:nvSpPr>
        <p:spPr bwMode="auto">
          <a:xfrm>
            <a:off x="3456432" y="24231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JavaScript — Live polling</a:t>
            </a:r>
            <a:endParaRPr lang="en-US" sz="1000"/>
          </a:p>
        </p:txBody>
      </p:sp>
      <p:sp>
        <p:nvSpPr>
          <p:cNvPr id="716392745" name="Shape 25"/>
          <p:cNvSpPr/>
          <p:nvPr/>
        </p:nvSpPr>
        <p:spPr bwMode="auto">
          <a:xfrm>
            <a:off x="3291840" y="3017519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5737406" name="Text 26"/>
          <p:cNvSpPr/>
          <p:nvPr/>
        </p:nvSpPr>
        <p:spPr bwMode="auto">
          <a:xfrm>
            <a:off x="3456432" y="3017519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HTML/CSS — Dark UI</a:t>
            </a:r>
            <a:endParaRPr lang="en-US" sz="1000"/>
          </a:p>
        </p:txBody>
      </p:sp>
      <p:sp>
        <p:nvSpPr>
          <p:cNvPr id="1166957342" name="Shape 27"/>
          <p:cNvSpPr/>
          <p:nvPr/>
        </p:nvSpPr>
        <p:spPr bwMode="auto">
          <a:xfrm>
            <a:off x="3291840" y="3611880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33811114" name="Text 28"/>
          <p:cNvSpPr/>
          <p:nvPr/>
        </p:nvSpPr>
        <p:spPr bwMode="auto">
          <a:xfrm>
            <a:off x="3456432" y="361188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Fetch API — REST calls</a:t>
            </a:r>
            <a:endParaRPr lang="en-US" sz="1000"/>
          </a:p>
        </p:txBody>
      </p:sp>
      <p:sp>
        <p:nvSpPr>
          <p:cNvPr id="2141099686" name="Shape 29"/>
          <p:cNvSpPr/>
          <p:nvPr/>
        </p:nvSpPr>
        <p:spPr bwMode="auto">
          <a:xfrm>
            <a:off x="6126480" y="777240"/>
            <a:ext cx="2743200" cy="36576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390260417" name="Text 30"/>
          <p:cNvSpPr/>
          <p:nvPr/>
        </p:nvSpPr>
        <p:spPr bwMode="auto">
          <a:xfrm>
            <a:off x="6126480" y="7772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60B14"/>
                </a:solidFill>
                <a:latin typeface="Calibri"/>
                <a:ea typeface="Calibri"/>
                <a:cs typeface="Calibri"/>
              </a:rPr>
              <a:t>Network &amp; Security</a:t>
            </a:r>
            <a:endParaRPr lang="en-US" sz="1100"/>
          </a:p>
        </p:txBody>
      </p:sp>
      <p:sp>
        <p:nvSpPr>
          <p:cNvPr id="821449824" name="Shape 31"/>
          <p:cNvSpPr/>
          <p:nvPr/>
        </p:nvSpPr>
        <p:spPr bwMode="auto">
          <a:xfrm>
            <a:off x="6126480" y="1143000"/>
            <a:ext cx="2743200" cy="3200400"/>
          </a:xfrm>
          <a:prstGeom prst="rect">
            <a:avLst/>
          </a:prstGeom>
          <a:solidFill>
            <a:srgbClr val="0D1B2A"/>
          </a:solidFill>
          <a:ln w="6350">
            <a:solidFill>
              <a:srgbClr val="FF3E3E"/>
            </a:solidFill>
            <a:prstDash val="solid"/>
          </a:ln>
        </p:spPr>
      </p:sp>
      <p:sp>
        <p:nvSpPr>
          <p:cNvPr id="1130605554" name="Shape 32"/>
          <p:cNvSpPr/>
          <p:nvPr/>
        </p:nvSpPr>
        <p:spPr bwMode="auto">
          <a:xfrm>
            <a:off x="6217920" y="1234440"/>
            <a:ext cx="73152" cy="22860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324708658" name="Text 33"/>
          <p:cNvSpPr/>
          <p:nvPr/>
        </p:nvSpPr>
        <p:spPr bwMode="auto">
          <a:xfrm>
            <a:off x="6382512" y="12344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Scapy — Packet capture</a:t>
            </a:r>
            <a:endParaRPr lang="en-US" sz="1000"/>
          </a:p>
        </p:txBody>
      </p:sp>
      <p:sp>
        <p:nvSpPr>
          <p:cNvPr id="972180807" name="Shape 34"/>
          <p:cNvSpPr/>
          <p:nvPr/>
        </p:nvSpPr>
        <p:spPr bwMode="auto">
          <a:xfrm>
            <a:off x="6217920" y="1828800"/>
            <a:ext cx="73152" cy="22860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42278563" name="Text 35"/>
          <p:cNvSpPr/>
          <p:nvPr/>
        </p:nvSpPr>
        <p:spPr bwMode="auto">
          <a:xfrm>
            <a:off x="6382512" y="182880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Mac pf firewall — Blocking</a:t>
            </a:r>
            <a:endParaRPr lang="en-US" sz="1000"/>
          </a:p>
        </p:txBody>
      </p:sp>
      <p:sp>
        <p:nvSpPr>
          <p:cNvPr id="938906207" name="Shape 36"/>
          <p:cNvSpPr/>
          <p:nvPr/>
        </p:nvSpPr>
        <p:spPr bwMode="auto">
          <a:xfrm>
            <a:off x="6217920" y="2423160"/>
            <a:ext cx="73152" cy="22860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550693650" name="Text 37"/>
          <p:cNvSpPr/>
          <p:nvPr/>
        </p:nvSpPr>
        <p:spPr bwMode="auto">
          <a:xfrm>
            <a:off x="6382512" y="242316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pfctl — Firewall control</a:t>
            </a:r>
            <a:endParaRPr lang="en-US" sz="1000"/>
          </a:p>
        </p:txBody>
      </p:sp>
      <p:sp>
        <p:nvSpPr>
          <p:cNvPr id="358778646" name="Shape 38"/>
          <p:cNvSpPr/>
          <p:nvPr/>
        </p:nvSpPr>
        <p:spPr bwMode="auto">
          <a:xfrm>
            <a:off x="6217920" y="3017519"/>
            <a:ext cx="73152" cy="22860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1442199800" name="Text 39"/>
          <p:cNvSpPr/>
          <p:nvPr/>
        </p:nvSpPr>
        <p:spPr bwMode="auto">
          <a:xfrm>
            <a:off x="6382512" y="3017519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Threading — Background jobs</a:t>
            </a:r>
            <a:endParaRPr lang="en-US" sz="1000"/>
          </a:p>
        </p:txBody>
      </p:sp>
      <p:sp>
        <p:nvSpPr>
          <p:cNvPr id="1947797096" name="Shape 40"/>
          <p:cNvSpPr/>
          <p:nvPr/>
        </p:nvSpPr>
        <p:spPr bwMode="auto">
          <a:xfrm>
            <a:off x="6217920" y="3611880"/>
            <a:ext cx="73152" cy="22860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1437076408" name="Text 41"/>
          <p:cNvSpPr/>
          <p:nvPr/>
        </p:nvSpPr>
        <p:spPr bwMode="auto">
          <a:xfrm>
            <a:off x="6382512" y="361188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subprocess — System calls</a:t>
            </a:r>
            <a:endParaRPr lang="en-US" sz="1000"/>
          </a:p>
        </p:txBody>
      </p:sp>
      <p:sp>
        <p:nvSpPr>
          <p:cNvPr id="2065308484" name="Shape 42"/>
          <p:cNvSpPr/>
          <p:nvPr/>
        </p:nvSpPr>
        <p:spPr bwMode="auto">
          <a:xfrm>
            <a:off x="274320" y="4480560"/>
            <a:ext cx="8595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86589229" name="Text 43"/>
          <p:cNvSpPr/>
          <p:nvPr/>
        </p:nvSpPr>
        <p:spPr bwMode="auto">
          <a:xfrm>
            <a:off x="457200" y="449884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B800"/>
                </a:solidFill>
                <a:latin typeface="Calibri"/>
                <a:ea typeface="Calibri"/>
                <a:cs typeface="Calibri"/>
              </a:rPr>
              <a:t>📊  Dataset: CIC-IDS 2017 — DrDoS_DNS  |  33,925 rows  |  15 features  |  2 classes: BENIGN &amp; DrDoS_DNS</a:t>
            </a:r>
            <a:endParaRPr lang="en-US" sz="1000"/>
          </a:p>
        </p:txBody>
      </p:sp>
      <p:sp>
        <p:nvSpPr>
          <p:cNvPr id="1746648960" name="Shape 44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6358881" name="Text 45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09777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84085819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90788600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30183452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3936137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79437394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52430643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53909122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61131393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09969434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25156006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703653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79395326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06065630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18710997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60435337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98628204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92378308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24907741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08366380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LIVE DEMO &amp; RESULTS</a:t>
            </a:r>
            <a:endParaRPr lang="en-US" sz="2200"/>
          </a:p>
        </p:txBody>
      </p:sp>
      <p:sp>
        <p:nvSpPr>
          <p:cNvPr id="1867740500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2007295621" name="Shape 3"/>
          <p:cNvSpPr/>
          <p:nvPr/>
        </p:nvSpPr>
        <p:spPr bwMode="auto">
          <a:xfrm>
            <a:off x="274320" y="777240"/>
            <a:ext cx="5029200" cy="3200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73814702" name="Text 4"/>
          <p:cNvSpPr/>
          <p:nvPr/>
        </p:nvSpPr>
        <p:spPr bwMode="auto">
          <a:xfrm>
            <a:off x="274320" y="7772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00FF88"/>
                </a:solidFill>
                <a:latin typeface="Consolas"/>
                <a:ea typeface="Consolas"/>
                <a:cs typeface="Consolas"/>
              </a:rPr>
              <a:t>Terminal — sniffer.py</a:t>
            </a:r>
            <a:endParaRPr lang="en-US" sz="900"/>
          </a:p>
        </p:txBody>
      </p:sp>
      <p:sp>
        <p:nvSpPr>
          <p:cNvPr id="1116900975" name="Text 5"/>
          <p:cNvSpPr/>
          <p:nvPr/>
        </p:nvSpPr>
        <p:spPr bwMode="auto">
          <a:xfrm>
            <a:off x="365760" y="1143000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00FF88"/>
                </a:solidFill>
                <a:latin typeface="Consolas"/>
                <a:ea typeface="Consolas"/>
                <a:cs typeface="Consolas"/>
              </a:rPr>
              <a:t>[12:26:55] ✅ NORMAL | IP: 10.44.7.155</a:t>
            </a:r>
            <a:endParaRPr lang="en-US" sz="800"/>
          </a:p>
        </p:txBody>
      </p:sp>
      <p:sp>
        <p:nvSpPr>
          <p:cNvPr id="179653221" name="Text 6"/>
          <p:cNvSpPr/>
          <p:nvPr/>
        </p:nvSpPr>
        <p:spPr bwMode="auto">
          <a:xfrm>
            <a:off x="365760" y="1344168"/>
            <a:ext cx="4754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Proto: UDP | Fwd pkts/s: 1 | BENIGN (83.3%)</a:t>
            </a:r>
            <a:endParaRPr lang="en-US" sz="800"/>
          </a:p>
        </p:txBody>
      </p:sp>
      <p:sp>
        <p:nvSpPr>
          <p:cNvPr id="355527626" name="Text 7"/>
          <p:cNvSpPr/>
          <p:nvPr/>
        </p:nvSpPr>
        <p:spPr bwMode="auto">
          <a:xfrm>
            <a:off x="365760" y="1618488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3E3E"/>
                </a:solidFill>
                <a:latin typeface="Consolas"/>
                <a:ea typeface="Consolas"/>
                <a:cs typeface="Consolas"/>
              </a:rPr>
              <a:t>[12:28:00] 🚨 ATTACK | IP: 10.44.7.155</a:t>
            </a:r>
            <a:endParaRPr lang="en-US" sz="800"/>
          </a:p>
        </p:txBody>
      </p:sp>
      <p:sp>
        <p:nvSpPr>
          <p:cNvPr id="1379634468" name="Text 8"/>
          <p:cNvSpPr/>
          <p:nvPr/>
        </p:nvSpPr>
        <p:spPr bwMode="auto">
          <a:xfrm>
            <a:off x="365760" y="1819656"/>
            <a:ext cx="4754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Proto: UDP | Fwd pkts/s: 2 | DrDoS_DNS (78.0%)</a:t>
            </a:r>
            <a:endParaRPr lang="en-US" sz="800"/>
          </a:p>
        </p:txBody>
      </p:sp>
      <p:sp>
        <p:nvSpPr>
          <p:cNvPr id="1051875622" name="Text 9"/>
          <p:cNvSpPr/>
          <p:nvPr/>
        </p:nvSpPr>
        <p:spPr bwMode="auto">
          <a:xfrm>
            <a:off x="365760" y="2093976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3E3E"/>
                </a:solidFill>
                <a:latin typeface="Consolas"/>
                <a:ea typeface="Consolas"/>
                <a:cs typeface="Consolas"/>
              </a:rPr>
              <a:t>[12:28:57] 🚨 ATTACK | IP: 10.44.7.155</a:t>
            </a:r>
            <a:endParaRPr lang="en-US" sz="800"/>
          </a:p>
        </p:txBody>
      </p:sp>
      <p:sp>
        <p:nvSpPr>
          <p:cNvPr id="1556665468" name="Text 10"/>
          <p:cNvSpPr/>
          <p:nvPr/>
        </p:nvSpPr>
        <p:spPr bwMode="auto">
          <a:xfrm>
            <a:off x="365760" y="2295144"/>
            <a:ext cx="4754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Proto: UDP | Fwd pkts/s: 1 | DrDoS_DNS (75.3%)</a:t>
            </a:r>
            <a:endParaRPr lang="en-US" sz="800"/>
          </a:p>
        </p:txBody>
      </p:sp>
      <p:sp>
        <p:nvSpPr>
          <p:cNvPr id="795526734" name="Text 11"/>
          <p:cNvSpPr/>
          <p:nvPr/>
        </p:nvSpPr>
        <p:spPr bwMode="auto">
          <a:xfrm>
            <a:off x="365760" y="2569464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3E3E"/>
                </a:solidFill>
                <a:latin typeface="Consolas"/>
                <a:ea typeface="Consolas"/>
                <a:cs typeface="Consolas"/>
              </a:rPr>
              <a:t>[12:30:00] 🚨 ATTACK | IP: 10.44.7.155</a:t>
            </a:r>
            <a:endParaRPr lang="en-US" sz="800"/>
          </a:p>
        </p:txBody>
      </p:sp>
      <p:sp>
        <p:nvSpPr>
          <p:cNvPr id="588187770" name="Text 12"/>
          <p:cNvSpPr/>
          <p:nvPr/>
        </p:nvSpPr>
        <p:spPr bwMode="auto">
          <a:xfrm>
            <a:off x="365760" y="2770632"/>
            <a:ext cx="4754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Proto: UDP | Fwd pkts/s: 1 | DrDoS_DNS (76.0%)</a:t>
            </a:r>
            <a:endParaRPr lang="en-US" sz="800"/>
          </a:p>
        </p:txBody>
      </p:sp>
      <p:sp>
        <p:nvSpPr>
          <p:cNvPr id="129137702" name="Text 13"/>
          <p:cNvSpPr/>
          <p:nvPr/>
        </p:nvSpPr>
        <p:spPr bwMode="auto">
          <a:xfrm>
            <a:off x="365760" y="3044952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00FF88"/>
                </a:solidFill>
                <a:latin typeface="Consolas"/>
                <a:ea typeface="Consolas"/>
                <a:cs typeface="Consolas"/>
              </a:rPr>
              <a:t>[12:30:09] ✅ NORMAL | IP: 104.199.241.202</a:t>
            </a:r>
            <a:endParaRPr lang="en-US" sz="800"/>
          </a:p>
        </p:txBody>
      </p:sp>
      <p:sp>
        <p:nvSpPr>
          <p:cNvPr id="264236524" name="Text 14"/>
          <p:cNvSpPr/>
          <p:nvPr/>
        </p:nvSpPr>
        <p:spPr bwMode="auto">
          <a:xfrm>
            <a:off x="365760" y="3246120"/>
            <a:ext cx="4754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Proto: TCP | Fwd pkts/s: 2645 | BENIGN (69.3%)</a:t>
            </a:r>
            <a:endParaRPr lang="en-US" sz="800"/>
          </a:p>
        </p:txBody>
      </p:sp>
      <p:sp>
        <p:nvSpPr>
          <p:cNvPr id="780403954" name="Text 15"/>
          <p:cNvSpPr/>
          <p:nvPr/>
        </p:nvSpPr>
        <p:spPr bwMode="auto">
          <a:xfrm>
            <a:off x="365760" y="3520440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00FF88"/>
                </a:solidFill>
                <a:latin typeface="Consolas"/>
                <a:ea typeface="Consolas"/>
                <a:cs typeface="Consolas"/>
              </a:rPr>
              <a:t>[12:30:30] ✅ NORMAL | IP: 10.44.7.155</a:t>
            </a:r>
            <a:endParaRPr lang="en-US" sz="800"/>
          </a:p>
        </p:txBody>
      </p:sp>
      <p:sp>
        <p:nvSpPr>
          <p:cNvPr id="1265427009" name="Text 16"/>
          <p:cNvSpPr/>
          <p:nvPr/>
        </p:nvSpPr>
        <p:spPr bwMode="auto">
          <a:xfrm>
            <a:off x="365760" y="3721608"/>
            <a:ext cx="4754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Proto: UDP | Fwd pkts/s: 2 | BENIGN (83.3%)</a:t>
            </a:r>
            <a:endParaRPr lang="en-US" sz="800"/>
          </a:p>
        </p:txBody>
      </p:sp>
      <p:sp>
        <p:nvSpPr>
          <p:cNvPr id="33765355" name="Shape 17"/>
          <p:cNvSpPr/>
          <p:nvPr/>
        </p:nvSpPr>
        <p:spPr bwMode="auto">
          <a:xfrm>
            <a:off x="5577840" y="749808"/>
            <a:ext cx="32918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34254807" name="Text 18"/>
          <p:cNvSpPr/>
          <p:nvPr/>
        </p:nvSpPr>
        <p:spPr bwMode="auto">
          <a:xfrm>
            <a:off x="5577840" y="786384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FF88"/>
                </a:solidFill>
                <a:latin typeface="Arial Black"/>
                <a:ea typeface="Arial Black"/>
                <a:cs typeface="Arial Black"/>
              </a:rPr>
              <a:t>100%</a:t>
            </a:r>
            <a:endParaRPr lang="en-US" sz="2000"/>
          </a:p>
        </p:txBody>
      </p:sp>
      <p:sp>
        <p:nvSpPr>
          <p:cNvPr id="1153732137" name="Text 19"/>
          <p:cNvSpPr/>
          <p:nvPr/>
        </p:nvSpPr>
        <p:spPr bwMode="auto">
          <a:xfrm>
            <a:off x="5577840" y="1152144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Model Accuracy</a:t>
            </a:r>
            <a:endParaRPr lang="en-US" sz="900"/>
          </a:p>
        </p:txBody>
      </p:sp>
      <p:sp>
        <p:nvSpPr>
          <p:cNvPr id="1305721397" name="Shape 20"/>
          <p:cNvSpPr/>
          <p:nvPr/>
        </p:nvSpPr>
        <p:spPr bwMode="auto">
          <a:xfrm>
            <a:off x="5577840" y="1591056"/>
            <a:ext cx="32918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32720619" name="Text 21"/>
          <p:cNvSpPr/>
          <p:nvPr/>
        </p:nvSpPr>
        <p:spPr bwMode="auto">
          <a:xfrm>
            <a:off x="5577840" y="1627632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00D4FF"/>
                </a:solidFill>
                <a:latin typeface="Arial Black"/>
                <a:ea typeface="Arial Black"/>
                <a:cs typeface="Arial Black"/>
              </a:rPr>
              <a:t>33,925</a:t>
            </a:r>
            <a:endParaRPr lang="en-US" sz="2000"/>
          </a:p>
        </p:txBody>
      </p:sp>
      <p:sp>
        <p:nvSpPr>
          <p:cNvPr id="1901229565" name="Text 22"/>
          <p:cNvSpPr/>
          <p:nvPr/>
        </p:nvSpPr>
        <p:spPr bwMode="auto">
          <a:xfrm>
            <a:off x="5577840" y="1993392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Training Rows</a:t>
            </a:r>
            <a:endParaRPr lang="en-US" sz="900"/>
          </a:p>
        </p:txBody>
      </p:sp>
      <p:sp>
        <p:nvSpPr>
          <p:cNvPr id="2066911822" name="Shape 23"/>
          <p:cNvSpPr/>
          <p:nvPr/>
        </p:nvSpPr>
        <p:spPr bwMode="auto">
          <a:xfrm>
            <a:off x="5577840" y="2432303"/>
            <a:ext cx="32918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64452064" name="Text 24"/>
          <p:cNvSpPr/>
          <p:nvPr/>
        </p:nvSpPr>
        <p:spPr bwMode="auto">
          <a:xfrm>
            <a:off x="5577840" y="2468880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B800"/>
                </a:solidFill>
                <a:latin typeface="Arial Black"/>
                <a:ea typeface="Arial Black"/>
                <a:cs typeface="Arial Black"/>
              </a:rPr>
              <a:t>15</a:t>
            </a:r>
            <a:endParaRPr lang="en-US" sz="2000"/>
          </a:p>
        </p:txBody>
      </p:sp>
      <p:sp>
        <p:nvSpPr>
          <p:cNvPr id="2057502992" name="Text 25"/>
          <p:cNvSpPr/>
          <p:nvPr/>
        </p:nvSpPr>
        <p:spPr bwMode="auto">
          <a:xfrm>
            <a:off x="5577840" y="283464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Features Used</a:t>
            </a:r>
            <a:endParaRPr lang="en-US" sz="900"/>
          </a:p>
        </p:txBody>
      </p:sp>
      <p:sp>
        <p:nvSpPr>
          <p:cNvPr id="604578014" name="Shape 26"/>
          <p:cNvSpPr/>
          <p:nvPr/>
        </p:nvSpPr>
        <p:spPr bwMode="auto">
          <a:xfrm>
            <a:off x="5577840" y="3273552"/>
            <a:ext cx="32918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1798218258" name="Text 27"/>
          <p:cNvSpPr/>
          <p:nvPr/>
        </p:nvSpPr>
        <p:spPr bwMode="auto">
          <a:xfrm>
            <a:off x="5577840" y="3310127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3E3E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2000"/>
          </a:p>
        </p:txBody>
      </p:sp>
      <p:sp>
        <p:nvSpPr>
          <p:cNvPr id="1059832419" name="Text 28"/>
          <p:cNvSpPr/>
          <p:nvPr/>
        </p:nvSpPr>
        <p:spPr bwMode="auto">
          <a:xfrm>
            <a:off x="5577840" y="3675888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Classes Detected</a:t>
            </a:r>
            <a:endParaRPr lang="en-US" sz="900"/>
          </a:p>
        </p:txBody>
      </p:sp>
      <p:sp>
        <p:nvSpPr>
          <p:cNvPr id="417755221" name="Shape 29"/>
          <p:cNvSpPr/>
          <p:nvPr/>
        </p:nvSpPr>
        <p:spPr bwMode="auto">
          <a:xfrm>
            <a:off x="274320" y="4114800"/>
            <a:ext cx="85953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108640986" name="Text 30"/>
          <p:cNvSpPr/>
          <p:nvPr/>
        </p:nvSpPr>
        <p:spPr bwMode="auto">
          <a:xfrm>
            <a:off x="457200" y="4160519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3E3E"/>
                </a:solidFill>
                <a:latin typeface="Calibri"/>
                <a:ea typeface="Calibri"/>
                <a:cs typeface="Calibri"/>
              </a:rPr>
              <a:t>🔥 REAL FIREWALL BLOCKING VERIFIED</a:t>
            </a:r>
            <a:endParaRPr lang="en-US" sz="1000"/>
          </a:p>
        </p:txBody>
      </p:sp>
      <p:sp>
        <p:nvSpPr>
          <p:cNvPr id="925523278" name="Text 31"/>
          <p:cNvSpPr/>
          <p:nvPr/>
        </p:nvSpPr>
        <p:spPr bwMode="auto">
          <a:xfrm>
            <a:off x="457200" y="4389120"/>
            <a:ext cx="822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C8D8E8"/>
                </a:solidFill>
                <a:latin typeface="Consolas"/>
                <a:ea typeface="Consolas"/>
                <a:cs typeface="Consolas"/>
              </a:rPr>
              <a:t>sudo pfctl -t blocked_ips -T show  →  Shows real blocked IPs added by our system to Mac OS firewall</a:t>
            </a:r>
            <a:endParaRPr lang="en-US" sz="900"/>
          </a:p>
        </p:txBody>
      </p:sp>
      <p:sp>
        <p:nvSpPr>
          <p:cNvPr id="1613455817" name="Shape 32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  <p:txBody>
          <a:bodyPr/>
          <a:p>
            <a:pPr>
              <a:defRPr/>
            </a:pPr>
            <a:endParaRPr lang="en-US"/>
          </a:p>
        </p:txBody>
      </p:sp>
      <p:sp>
        <p:nvSpPr>
          <p:cNvPr id="485539914" name="Text 33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83396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61361211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20395772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0227068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75004957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21713951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28037880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52394691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9250702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89684978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53276834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32470184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55923538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61335272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65481466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94938682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05885354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91312201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68086094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68740380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ACCURACY &amp; STATISTICS</a:t>
            </a:r>
            <a:endParaRPr lang="en-US" sz="2200"/>
          </a:p>
        </p:txBody>
      </p:sp>
      <p:sp>
        <p:nvSpPr>
          <p:cNvPr id="1058839630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608656912" name="Text 3"/>
          <p:cNvSpPr/>
          <p:nvPr/>
        </p:nvSpPr>
        <p:spPr bwMode="auto">
          <a:xfrm>
            <a:off x="457200" y="7772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63127535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097280"/>
          <a:ext cx="5029200" cy="16459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FF88"/>
                          </a:solidFill>
                          <a:latin typeface="Calibri"/>
                          <a:ea typeface="Calibri"/>
                          <a:cs typeface="Calibri"/>
                        </a:rPr>
                        <a:t>BENIGN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2000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FF3E3E"/>
                          </a:solidFill>
                          <a:latin typeface="Calibri"/>
                          <a:ea typeface="Calibri"/>
                          <a:cs typeface="Calibri"/>
                        </a:rPr>
                        <a:t>DrDoS_DNS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2000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0D4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0D4FF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C8D8E8"/>
                          </a:solidFill>
                          <a:latin typeface="Calibri"/>
                          <a:ea typeface="Calibri"/>
                          <a:cs typeface="Calibri"/>
                        </a:rPr>
                        <a:t>4000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A3A5C"/>
                      </a:solidFill>
                    </a:lnL>
                    <a:lnR w="6350" algn="ctr">
                      <a:solidFill>
                        <a:srgbClr val="1A3A5C"/>
                      </a:solidFill>
                    </a:lnR>
                    <a:lnT w="6350" algn="ctr">
                      <a:solidFill>
                        <a:srgbClr val="1A3A5C"/>
                      </a:solidFill>
                    </a:lnT>
                    <a:lnB w="6350" algn="ctr">
                      <a:solidFill>
                        <a:srgbClr val="1A3A5C"/>
                      </a:solidFill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566314001" name="Text 4"/>
          <p:cNvSpPr/>
          <p:nvPr/>
        </p:nvSpPr>
        <p:spPr bwMode="auto">
          <a:xfrm>
            <a:off x="5760720" y="77724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Dataset Statistics</a:t>
            </a:r>
            <a:endParaRPr lang="en-US" sz="1200"/>
          </a:p>
        </p:txBody>
      </p:sp>
      <p:sp>
        <p:nvSpPr>
          <p:cNvPr id="1341155686" name="Shape 5"/>
          <p:cNvSpPr/>
          <p:nvPr/>
        </p:nvSpPr>
        <p:spPr bwMode="auto">
          <a:xfrm>
            <a:off x="5760720" y="1097280"/>
            <a:ext cx="3108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32087355" name="Text 6"/>
          <p:cNvSpPr/>
          <p:nvPr/>
        </p:nvSpPr>
        <p:spPr bwMode="auto">
          <a:xfrm>
            <a:off x="5852160" y="111556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Total rows</a:t>
            </a:r>
            <a:endParaRPr lang="en-US" sz="1000"/>
          </a:p>
        </p:txBody>
      </p:sp>
      <p:sp>
        <p:nvSpPr>
          <p:cNvPr id="815856138" name="Text 7"/>
          <p:cNvSpPr/>
          <p:nvPr/>
        </p:nvSpPr>
        <p:spPr bwMode="auto">
          <a:xfrm>
            <a:off x="7498080" y="1115568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Arial Black"/>
                <a:ea typeface="Arial Black"/>
                <a:cs typeface="Arial Black"/>
              </a:rPr>
              <a:t>33,925</a:t>
            </a:r>
            <a:endParaRPr lang="en-US" sz="1100"/>
          </a:p>
        </p:txBody>
      </p:sp>
      <p:sp>
        <p:nvSpPr>
          <p:cNvPr id="1376361522" name="Shape 8"/>
          <p:cNvSpPr/>
          <p:nvPr/>
        </p:nvSpPr>
        <p:spPr bwMode="auto">
          <a:xfrm>
            <a:off x="5760720" y="1508759"/>
            <a:ext cx="3108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3E3E"/>
            </a:solidFill>
            <a:prstDash val="solid"/>
          </a:ln>
        </p:spPr>
      </p:sp>
      <p:sp>
        <p:nvSpPr>
          <p:cNvPr id="1696273507" name="Text 9"/>
          <p:cNvSpPr/>
          <p:nvPr/>
        </p:nvSpPr>
        <p:spPr bwMode="auto">
          <a:xfrm>
            <a:off x="5852160" y="152704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DrDoS_DNS</a:t>
            </a:r>
            <a:endParaRPr lang="en-US" sz="1000"/>
          </a:p>
        </p:txBody>
      </p:sp>
      <p:sp>
        <p:nvSpPr>
          <p:cNvPr id="1601765373" name="Text 10"/>
          <p:cNvSpPr/>
          <p:nvPr/>
        </p:nvSpPr>
        <p:spPr bwMode="auto">
          <a:xfrm>
            <a:off x="7498080" y="1527048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F3E3E"/>
                </a:solidFill>
                <a:latin typeface="Arial Black"/>
                <a:ea typeface="Arial Black"/>
                <a:cs typeface="Arial Black"/>
              </a:rPr>
              <a:t>32,797</a:t>
            </a:r>
            <a:endParaRPr lang="en-US" sz="1100"/>
          </a:p>
        </p:txBody>
      </p:sp>
      <p:sp>
        <p:nvSpPr>
          <p:cNvPr id="1861176105" name="Shape 11"/>
          <p:cNvSpPr/>
          <p:nvPr/>
        </p:nvSpPr>
        <p:spPr bwMode="auto">
          <a:xfrm>
            <a:off x="5760720" y="1920240"/>
            <a:ext cx="3108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218444777" name="Text 12"/>
          <p:cNvSpPr/>
          <p:nvPr/>
        </p:nvSpPr>
        <p:spPr bwMode="auto">
          <a:xfrm>
            <a:off x="5852160" y="193852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BENIGN</a:t>
            </a:r>
            <a:endParaRPr lang="en-US" sz="1000"/>
          </a:p>
        </p:txBody>
      </p:sp>
      <p:sp>
        <p:nvSpPr>
          <p:cNvPr id="1110478567" name="Text 13"/>
          <p:cNvSpPr/>
          <p:nvPr/>
        </p:nvSpPr>
        <p:spPr bwMode="auto">
          <a:xfrm>
            <a:off x="7498080" y="1938528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0FF88"/>
                </a:solidFill>
                <a:latin typeface="Arial Black"/>
                <a:ea typeface="Arial Black"/>
                <a:cs typeface="Arial Black"/>
              </a:rPr>
              <a:t>1,128</a:t>
            </a:r>
            <a:endParaRPr lang="en-US" sz="1100"/>
          </a:p>
        </p:txBody>
      </p:sp>
      <p:sp>
        <p:nvSpPr>
          <p:cNvPr id="189914782" name="Shape 14"/>
          <p:cNvSpPr/>
          <p:nvPr/>
        </p:nvSpPr>
        <p:spPr bwMode="auto">
          <a:xfrm>
            <a:off x="5760720" y="2331720"/>
            <a:ext cx="3108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031933734" name="Text 15"/>
          <p:cNvSpPr/>
          <p:nvPr/>
        </p:nvSpPr>
        <p:spPr bwMode="auto">
          <a:xfrm>
            <a:off x="5852160" y="235000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Features</a:t>
            </a:r>
            <a:endParaRPr lang="en-US" sz="1000"/>
          </a:p>
        </p:txBody>
      </p:sp>
      <p:sp>
        <p:nvSpPr>
          <p:cNvPr id="198299741" name="Text 16"/>
          <p:cNvSpPr/>
          <p:nvPr/>
        </p:nvSpPr>
        <p:spPr bwMode="auto">
          <a:xfrm>
            <a:off x="7498080" y="2350008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FB800"/>
                </a:solidFill>
                <a:latin typeface="Arial Black"/>
                <a:ea typeface="Arial Black"/>
                <a:cs typeface="Arial Black"/>
              </a:rPr>
              <a:t>15</a:t>
            </a:r>
            <a:endParaRPr lang="en-US" sz="1100"/>
          </a:p>
        </p:txBody>
      </p:sp>
      <p:sp>
        <p:nvSpPr>
          <p:cNvPr id="48573234" name="Text 17"/>
          <p:cNvSpPr/>
          <p:nvPr/>
        </p:nvSpPr>
        <p:spPr bwMode="auto">
          <a:xfrm>
            <a:off x="457200" y="28346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Class Distribution (Balanced Training)</a:t>
            </a:r>
            <a:endParaRPr lang="en-US" sz="1100"/>
          </a:p>
        </p:txBody>
      </p:sp>
      <p:graphicFrame>
        <p:nvGraphicFramePr>
          <p:cNvPr id="111968364" name="Chart 0"/>
          <p:cNvGraphicFramePr>
            <a:graphicFrameLocks xmlns:a="http://schemas.openxmlformats.org/drawingml/2006/main"/>
          </p:cNvGraphicFramePr>
          <p:nvPr/>
        </p:nvGraphicFramePr>
        <p:xfrm rot="0">
          <a:off x="274320" y="3154680"/>
          <a:ext cx="53035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05460124" name="Text 18"/>
          <p:cNvSpPr/>
          <p:nvPr/>
        </p:nvSpPr>
        <p:spPr bwMode="auto">
          <a:xfrm>
            <a:off x="5760720" y="283464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Model Parameters</a:t>
            </a:r>
            <a:endParaRPr lang="en-US" sz="1100"/>
          </a:p>
        </p:txBody>
      </p:sp>
      <p:sp>
        <p:nvSpPr>
          <p:cNvPr id="1213901479" name="Shape 19"/>
          <p:cNvSpPr/>
          <p:nvPr/>
        </p:nvSpPr>
        <p:spPr bwMode="auto">
          <a:xfrm>
            <a:off x="5760720" y="3154680"/>
            <a:ext cx="310896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8110881" name="Text 20"/>
          <p:cNvSpPr/>
          <p:nvPr/>
        </p:nvSpPr>
        <p:spPr bwMode="auto">
          <a:xfrm>
            <a:off x="5852160" y="3172968"/>
            <a:ext cx="13716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Algorithm</a:t>
            </a:r>
            <a:endParaRPr lang="en-US" sz="900"/>
          </a:p>
        </p:txBody>
      </p:sp>
      <p:sp>
        <p:nvSpPr>
          <p:cNvPr id="479671864" name="Text 21"/>
          <p:cNvSpPr/>
          <p:nvPr/>
        </p:nvSpPr>
        <p:spPr bwMode="auto">
          <a:xfrm>
            <a:off x="7223760" y="3172968"/>
            <a:ext cx="1554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 sz="900"/>
          </a:p>
        </p:txBody>
      </p:sp>
      <p:sp>
        <p:nvSpPr>
          <p:cNvPr id="1267681381" name="Shape 22"/>
          <p:cNvSpPr/>
          <p:nvPr/>
        </p:nvSpPr>
        <p:spPr bwMode="auto">
          <a:xfrm>
            <a:off x="5760720" y="3493008"/>
            <a:ext cx="310896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42371739" name="Text 23"/>
          <p:cNvSpPr/>
          <p:nvPr/>
        </p:nvSpPr>
        <p:spPr bwMode="auto">
          <a:xfrm>
            <a:off x="5852160" y="3511296"/>
            <a:ext cx="13716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Trees</a:t>
            </a:r>
            <a:endParaRPr lang="en-US" sz="900"/>
          </a:p>
        </p:txBody>
      </p:sp>
      <p:sp>
        <p:nvSpPr>
          <p:cNvPr id="514462361" name="Text 24"/>
          <p:cNvSpPr/>
          <p:nvPr/>
        </p:nvSpPr>
        <p:spPr bwMode="auto">
          <a:xfrm>
            <a:off x="7223760" y="3511296"/>
            <a:ext cx="1554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150</a:t>
            </a:r>
            <a:endParaRPr lang="en-US" sz="900"/>
          </a:p>
        </p:txBody>
      </p:sp>
      <p:sp>
        <p:nvSpPr>
          <p:cNvPr id="645998610" name="Shape 25"/>
          <p:cNvSpPr/>
          <p:nvPr/>
        </p:nvSpPr>
        <p:spPr bwMode="auto">
          <a:xfrm>
            <a:off x="5760720" y="3831336"/>
            <a:ext cx="310896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37049251" name="Text 26"/>
          <p:cNvSpPr/>
          <p:nvPr/>
        </p:nvSpPr>
        <p:spPr bwMode="auto">
          <a:xfrm>
            <a:off x="5852160" y="3849624"/>
            <a:ext cx="13716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Max Depth</a:t>
            </a:r>
            <a:endParaRPr lang="en-US" sz="900"/>
          </a:p>
        </p:txBody>
      </p:sp>
      <p:sp>
        <p:nvSpPr>
          <p:cNvPr id="293517309" name="Text 27"/>
          <p:cNvSpPr/>
          <p:nvPr/>
        </p:nvSpPr>
        <p:spPr bwMode="auto">
          <a:xfrm>
            <a:off x="7223760" y="3849624"/>
            <a:ext cx="1554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20</a:t>
            </a:r>
            <a:endParaRPr lang="en-US" sz="900"/>
          </a:p>
        </p:txBody>
      </p:sp>
      <p:sp>
        <p:nvSpPr>
          <p:cNvPr id="954105165" name="Shape 28"/>
          <p:cNvSpPr/>
          <p:nvPr/>
        </p:nvSpPr>
        <p:spPr bwMode="auto">
          <a:xfrm>
            <a:off x="5760720" y="4169664"/>
            <a:ext cx="310896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30945619" name="Text 29"/>
          <p:cNvSpPr/>
          <p:nvPr/>
        </p:nvSpPr>
        <p:spPr bwMode="auto">
          <a:xfrm>
            <a:off x="5852160" y="4187952"/>
            <a:ext cx="13716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Class Weight</a:t>
            </a:r>
            <a:endParaRPr lang="en-US" sz="900"/>
          </a:p>
        </p:txBody>
      </p:sp>
      <p:sp>
        <p:nvSpPr>
          <p:cNvPr id="651009188" name="Text 30"/>
          <p:cNvSpPr/>
          <p:nvPr/>
        </p:nvSpPr>
        <p:spPr bwMode="auto">
          <a:xfrm>
            <a:off x="7223760" y="4187952"/>
            <a:ext cx="1554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Balanced</a:t>
            </a:r>
            <a:endParaRPr lang="en-US" sz="900"/>
          </a:p>
        </p:txBody>
      </p:sp>
      <p:sp>
        <p:nvSpPr>
          <p:cNvPr id="1806291488" name="Shape 31"/>
          <p:cNvSpPr/>
          <p:nvPr/>
        </p:nvSpPr>
        <p:spPr bwMode="auto">
          <a:xfrm>
            <a:off x="5760720" y="4507992"/>
            <a:ext cx="3108960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4981030" name="Text 32"/>
          <p:cNvSpPr/>
          <p:nvPr/>
        </p:nvSpPr>
        <p:spPr bwMode="auto">
          <a:xfrm>
            <a:off x="5852160" y="4526280"/>
            <a:ext cx="13716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Train/Test</a:t>
            </a:r>
            <a:endParaRPr lang="en-US" sz="900"/>
          </a:p>
        </p:txBody>
      </p:sp>
      <p:sp>
        <p:nvSpPr>
          <p:cNvPr id="364512837" name="Text 33"/>
          <p:cNvSpPr/>
          <p:nvPr/>
        </p:nvSpPr>
        <p:spPr bwMode="auto">
          <a:xfrm>
            <a:off x="7223760" y="4526280"/>
            <a:ext cx="1554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80% / 20%</a:t>
            </a:r>
            <a:endParaRPr lang="en-US" sz="900"/>
          </a:p>
        </p:txBody>
      </p:sp>
      <p:sp>
        <p:nvSpPr>
          <p:cNvPr id="476349336" name="Shape 34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6251782" name="Text 35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843165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82524458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37503804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28572375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83333713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2230422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83093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17212491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01679619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01154325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20407690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68276859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55705964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1102216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38377833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47592808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56526099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91268139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08867927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06091238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spc="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FUTURE SCOPE</a:t>
            </a:r>
            <a:endParaRPr lang="en-US" sz="2200"/>
          </a:p>
        </p:txBody>
      </p:sp>
      <p:sp>
        <p:nvSpPr>
          <p:cNvPr id="1934391781" name="Shape 2"/>
          <p:cNvSpPr/>
          <p:nvPr/>
        </p:nvSpPr>
        <p:spPr bwMode="auto"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88834105" name="Shape 3"/>
          <p:cNvSpPr/>
          <p:nvPr/>
        </p:nvSpPr>
        <p:spPr bwMode="auto">
          <a:xfrm>
            <a:off x="274320" y="777240"/>
            <a:ext cx="45720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02963387" name="Text 4"/>
          <p:cNvSpPr/>
          <p:nvPr/>
        </p:nvSpPr>
        <p:spPr bwMode="auto">
          <a:xfrm>
            <a:off x="274320" y="777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01</a:t>
            </a:r>
            <a:endParaRPr lang="en-US" sz="1200"/>
          </a:p>
        </p:txBody>
      </p:sp>
      <p:sp>
        <p:nvSpPr>
          <p:cNvPr id="1748700536" name="Shape 5"/>
          <p:cNvSpPr/>
          <p:nvPr/>
        </p:nvSpPr>
        <p:spPr bwMode="auto">
          <a:xfrm>
            <a:off x="868680" y="731520"/>
            <a:ext cx="79552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45695176" name="Text 6"/>
          <p:cNvSpPr/>
          <p:nvPr/>
        </p:nvSpPr>
        <p:spPr bwMode="auto">
          <a:xfrm>
            <a:off x="960120" y="75895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Multi-Attack Detection</a:t>
            </a:r>
            <a:endParaRPr lang="en-US" sz="1100"/>
          </a:p>
        </p:txBody>
      </p:sp>
      <p:sp>
        <p:nvSpPr>
          <p:cNvPr id="155674982" name="Text 7"/>
          <p:cNvSpPr/>
          <p:nvPr/>
        </p:nvSpPr>
        <p:spPr bwMode="auto">
          <a:xfrm>
            <a:off x="960120" y="1005840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Extend model to detect all 14 CIC-IDS 2017 attack types including port scan, brute force, SQL injection, and more.</a:t>
            </a:r>
            <a:endParaRPr lang="en-US" sz="900"/>
          </a:p>
        </p:txBody>
      </p:sp>
      <p:sp>
        <p:nvSpPr>
          <p:cNvPr id="165616974" name="Shape 8"/>
          <p:cNvSpPr/>
          <p:nvPr/>
        </p:nvSpPr>
        <p:spPr bwMode="auto">
          <a:xfrm>
            <a:off x="274320" y="1581912"/>
            <a:ext cx="457200" cy="4572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83646590" name="Text 9"/>
          <p:cNvSpPr/>
          <p:nvPr/>
        </p:nvSpPr>
        <p:spPr bwMode="auto">
          <a:xfrm>
            <a:off x="274320" y="15819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02</a:t>
            </a:r>
            <a:endParaRPr lang="en-US" sz="1200"/>
          </a:p>
        </p:txBody>
      </p:sp>
      <p:sp>
        <p:nvSpPr>
          <p:cNvPr id="2084232879" name="Shape 10"/>
          <p:cNvSpPr/>
          <p:nvPr/>
        </p:nvSpPr>
        <p:spPr bwMode="auto">
          <a:xfrm>
            <a:off x="868680" y="1536192"/>
            <a:ext cx="79552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812312190" name="Text 11"/>
          <p:cNvSpPr/>
          <p:nvPr/>
        </p:nvSpPr>
        <p:spPr bwMode="auto">
          <a:xfrm>
            <a:off x="960120" y="1563624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FF88"/>
                </a:solidFill>
                <a:latin typeface="Calibri"/>
                <a:ea typeface="Calibri"/>
                <a:cs typeface="Calibri"/>
              </a:rPr>
              <a:t>Browser Extension</a:t>
            </a:r>
            <a:endParaRPr lang="en-US" sz="1100"/>
          </a:p>
        </p:txBody>
      </p:sp>
      <p:sp>
        <p:nvSpPr>
          <p:cNvPr id="489793271" name="Text 12"/>
          <p:cNvSpPr/>
          <p:nvPr/>
        </p:nvSpPr>
        <p:spPr bwMode="auto">
          <a:xfrm>
            <a:off x="960120" y="1810512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Build a Chrome extension that checks URLs against our model in real time to detect phishing websites.</a:t>
            </a:r>
            <a:endParaRPr lang="en-US" sz="900"/>
          </a:p>
        </p:txBody>
      </p:sp>
      <p:sp>
        <p:nvSpPr>
          <p:cNvPr id="757343337" name="Shape 13"/>
          <p:cNvSpPr/>
          <p:nvPr/>
        </p:nvSpPr>
        <p:spPr bwMode="auto">
          <a:xfrm>
            <a:off x="274320" y="2386584"/>
            <a:ext cx="457200" cy="4572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39721129" name="Text 14"/>
          <p:cNvSpPr/>
          <p:nvPr/>
        </p:nvSpPr>
        <p:spPr bwMode="auto">
          <a:xfrm>
            <a:off x="274320" y="238658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03</a:t>
            </a:r>
            <a:endParaRPr lang="en-US" sz="1200"/>
          </a:p>
        </p:txBody>
      </p:sp>
      <p:sp>
        <p:nvSpPr>
          <p:cNvPr id="946895117" name="Shape 15"/>
          <p:cNvSpPr/>
          <p:nvPr/>
        </p:nvSpPr>
        <p:spPr bwMode="auto">
          <a:xfrm>
            <a:off x="868680" y="2340864"/>
            <a:ext cx="79552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43394078" name="Text 16"/>
          <p:cNvSpPr/>
          <p:nvPr/>
        </p:nvSpPr>
        <p:spPr bwMode="auto">
          <a:xfrm>
            <a:off x="960120" y="2368296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B800"/>
                </a:solidFill>
                <a:latin typeface="Calibri"/>
                <a:ea typeface="Calibri"/>
                <a:cs typeface="Calibri"/>
              </a:rPr>
              <a:t>Email &amp; SMS Alerts</a:t>
            </a:r>
            <a:endParaRPr lang="en-US" sz="1100"/>
          </a:p>
        </p:txBody>
      </p:sp>
      <p:sp>
        <p:nvSpPr>
          <p:cNvPr id="1668843571" name="Text 17"/>
          <p:cNvSpPr/>
          <p:nvPr/>
        </p:nvSpPr>
        <p:spPr bwMode="auto">
          <a:xfrm>
            <a:off x="960120" y="2615184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Send instant notifications via email or WhatsApp when a new attack is detected and blocked.</a:t>
            </a:r>
            <a:endParaRPr lang="en-US" sz="900"/>
          </a:p>
        </p:txBody>
      </p:sp>
      <p:sp>
        <p:nvSpPr>
          <p:cNvPr id="2038878182" name="Shape 18"/>
          <p:cNvSpPr/>
          <p:nvPr/>
        </p:nvSpPr>
        <p:spPr bwMode="auto">
          <a:xfrm>
            <a:off x="274320" y="3191256"/>
            <a:ext cx="457200" cy="457200"/>
          </a:xfrm>
          <a:prstGeom prst="rect">
            <a:avLst/>
          </a:prstGeom>
          <a:solidFill>
            <a:srgbClr val="FF3E3E"/>
          </a:solidFill>
          <a:ln w="12700">
            <a:solidFill>
              <a:srgbClr val="FF3E3E"/>
            </a:solidFill>
            <a:prstDash val="solid"/>
          </a:ln>
        </p:spPr>
      </p:sp>
      <p:sp>
        <p:nvSpPr>
          <p:cNvPr id="1883984999" name="Text 19"/>
          <p:cNvSpPr/>
          <p:nvPr/>
        </p:nvSpPr>
        <p:spPr bwMode="auto">
          <a:xfrm>
            <a:off x="274320" y="31912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04</a:t>
            </a:r>
            <a:endParaRPr lang="en-US" sz="1200"/>
          </a:p>
        </p:txBody>
      </p:sp>
      <p:sp>
        <p:nvSpPr>
          <p:cNvPr id="877541988" name="Shape 20"/>
          <p:cNvSpPr/>
          <p:nvPr/>
        </p:nvSpPr>
        <p:spPr bwMode="auto">
          <a:xfrm>
            <a:off x="868680" y="3145536"/>
            <a:ext cx="79552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FF3E3E"/>
            </a:solidFill>
            <a:prstDash val="solid"/>
          </a:ln>
        </p:spPr>
      </p:sp>
      <p:sp>
        <p:nvSpPr>
          <p:cNvPr id="1888489223" name="Text 21"/>
          <p:cNvSpPr/>
          <p:nvPr/>
        </p:nvSpPr>
        <p:spPr bwMode="auto">
          <a:xfrm>
            <a:off x="960120" y="3172968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3E3E"/>
                </a:solidFill>
                <a:latin typeface="Calibri"/>
                <a:ea typeface="Calibri"/>
                <a:cs typeface="Calibri"/>
              </a:rPr>
              <a:t>Linux/Cloud Deployment</a:t>
            </a:r>
            <a:endParaRPr lang="en-US" sz="1100"/>
          </a:p>
        </p:txBody>
      </p:sp>
      <p:sp>
        <p:nvSpPr>
          <p:cNvPr id="948236949" name="Text 22"/>
          <p:cNvSpPr/>
          <p:nvPr/>
        </p:nvSpPr>
        <p:spPr bwMode="auto">
          <a:xfrm>
            <a:off x="960120" y="3419856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Deploy on Ubuntu server with iptables for production-grade blocking. Host dashboard on AWS/GCP.</a:t>
            </a:r>
            <a:endParaRPr lang="en-US" sz="900"/>
          </a:p>
        </p:txBody>
      </p:sp>
      <p:sp>
        <p:nvSpPr>
          <p:cNvPr id="497079755" name="Shape 23"/>
          <p:cNvSpPr/>
          <p:nvPr/>
        </p:nvSpPr>
        <p:spPr bwMode="auto">
          <a:xfrm>
            <a:off x="274320" y="3995928"/>
            <a:ext cx="457200" cy="457200"/>
          </a:xfrm>
          <a:prstGeom prst="rect">
            <a:avLst/>
          </a:prstGeom>
          <a:solidFill>
            <a:srgbClr val="B06EFF"/>
          </a:solidFill>
          <a:ln w="12700">
            <a:solidFill>
              <a:srgbClr val="B06EFF"/>
            </a:solidFill>
            <a:prstDash val="solid"/>
          </a:ln>
        </p:spPr>
      </p:sp>
      <p:sp>
        <p:nvSpPr>
          <p:cNvPr id="1889537823" name="Text 24"/>
          <p:cNvSpPr/>
          <p:nvPr/>
        </p:nvSpPr>
        <p:spPr bwMode="auto">
          <a:xfrm>
            <a:off x="274320" y="399592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0B14"/>
                </a:solidFill>
                <a:latin typeface="Arial Black"/>
                <a:ea typeface="Arial Black"/>
                <a:cs typeface="Arial Black"/>
              </a:rPr>
              <a:t>05</a:t>
            </a:r>
            <a:endParaRPr lang="en-US" sz="1200"/>
          </a:p>
        </p:txBody>
      </p:sp>
      <p:sp>
        <p:nvSpPr>
          <p:cNvPr id="11159590" name="Shape 25"/>
          <p:cNvSpPr/>
          <p:nvPr/>
        </p:nvSpPr>
        <p:spPr bwMode="auto">
          <a:xfrm>
            <a:off x="868680" y="3950208"/>
            <a:ext cx="79552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B06EFF"/>
            </a:solidFill>
            <a:prstDash val="solid"/>
          </a:ln>
        </p:spPr>
      </p:sp>
      <p:sp>
        <p:nvSpPr>
          <p:cNvPr id="652722987" name="Text 26"/>
          <p:cNvSpPr/>
          <p:nvPr/>
        </p:nvSpPr>
        <p:spPr bwMode="auto">
          <a:xfrm>
            <a:off x="960120" y="3977640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B06EFF"/>
                </a:solidFill>
                <a:latin typeface="Calibri"/>
                <a:ea typeface="Calibri"/>
                <a:cs typeface="Calibri"/>
              </a:rPr>
              <a:t>Real-Time CICFlowMeter</a:t>
            </a:r>
            <a:endParaRPr lang="en-US" sz="1100"/>
          </a:p>
        </p:txBody>
      </p:sp>
      <p:sp>
        <p:nvSpPr>
          <p:cNvPr id="1836487296" name="Text 27"/>
          <p:cNvSpPr/>
          <p:nvPr/>
        </p:nvSpPr>
        <p:spPr bwMode="auto">
          <a:xfrm>
            <a:off x="960120" y="4224528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8E8"/>
                </a:solidFill>
                <a:latin typeface="Calibri"/>
                <a:ea typeface="Calibri"/>
                <a:cs typeface="Calibri"/>
              </a:rPr>
              <a:t>Integrate CICFlowMeter for more accurate flow feature extraction replacing manual Scapy calculations.</a:t>
            </a:r>
            <a:endParaRPr lang="en-US" sz="900"/>
          </a:p>
        </p:txBody>
      </p:sp>
      <p:sp>
        <p:nvSpPr>
          <p:cNvPr id="50681267" name="Shape 28"/>
          <p:cNvSpPr/>
          <p:nvPr/>
        </p:nvSpPr>
        <p:spPr bwMode="auto"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9383186" name="Text 29"/>
          <p:cNvSpPr/>
          <p:nvPr/>
        </p:nvSpPr>
        <p:spPr bwMode="auto">
          <a:xfrm>
            <a:off x="457200" y="4965192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AI Intrusion Detection System 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60B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663001" name="Shape 1"/>
          <p:cNvSpPr/>
          <p:nvPr/>
        </p:nvSpPr>
        <p:spPr bwMode="auto"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15393560" name="Shape 2"/>
          <p:cNvSpPr/>
          <p:nvPr/>
        </p:nvSpPr>
        <p:spPr bwMode="auto"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10264193" name="Shape 3"/>
          <p:cNvSpPr/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82514880" name="Shape 4"/>
          <p:cNvSpPr/>
          <p:nvPr/>
        </p:nvSpPr>
        <p:spPr bwMode="auto"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98102373" name="Shape 5"/>
          <p:cNvSpPr/>
          <p:nvPr/>
        </p:nvSpPr>
        <p:spPr bwMode="auto"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8990544" name="Shape 6"/>
          <p:cNvSpPr/>
          <p:nvPr/>
        </p:nvSpPr>
        <p:spPr bwMode="auto"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27720941" name="Shape 7"/>
          <p:cNvSpPr/>
          <p:nvPr/>
        </p:nvSpPr>
        <p:spPr bwMode="auto"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11597970" name="Shape 8"/>
          <p:cNvSpPr/>
          <p:nvPr/>
        </p:nvSpPr>
        <p:spPr bwMode="auto"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28657199" name="Shape 9"/>
          <p:cNvSpPr/>
          <p:nvPr/>
        </p:nvSpPr>
        <p:spPr bwMode="auto"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4430757" name="Shape 10"/>
          <p:cNvSpPr/>
          <p:nvPr/>
        </p:nvSpPr>
        <p:spPr bwMode="auto"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680846" name="Shape 11"/>
          <p:cNvSpPr/>
          <p:nvPr/>
        </p:nvSpPr>
        <p:spPr bwMode="auto"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32230674" name="Shape 12"/>
          <p:cNvSpPr/>
          <p:nvPr/>
        </p:nvSpPr>
        <p:spPr bwMode="auto"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9859967" name="Shape 13"/>
          <p:cNvSpPr/>
          <p:nvPr/>
        </p:nvSpPr>
        <p:spPr bwMode="auto"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53898136" name="Shape 14"/>
          <p:cNvSpPr/>
          <p:nvPr/>
        </p:nvSpPr>
        <p:spPr bwMode="auto"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30035368" name="Shape 15"/>
          <p:cNvSpPr/>
          <p:nvPr/>
        </p:nvSpPr>
        <p:spPr bwMode="auto"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9464052" name="Shape 16"/>
          <p:cNvSpPr/>
          <p:nvPr/>
        </p:nvSpPr>
        <p:spPr bwMode="auto"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62529967" name="Shape 17"/>
          <p:cNvSpPr/>
          <p:nvPr/>
        </p:nvSpPr>
        <p:spPr bwMode="auto"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17620656" name="Shape 18"/>
          <p:cNvSpPr/>
          <p:nvPr/>
        </p:nvSpPr>
        <p:spPr bwMode="auto"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37227124" name="Shape 19"/>
          <p:cNvSpPr/>
          <p:nvPr/>
        </p:nvSpPr>
        <p:spPr bwMode="auto"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49567324" name="Shape 20"/>
          <p:cNvSpPr/>
          <p:nvPr/>
        </p:nvSpPr>
        <p:spPr bwMode="auto"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18674747" name="Text 22"/>
          <p:cNvSpPr/>
          <p:nvPr/>
        </p:nvSpPr>
        <p:spPr bwMode="auto"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5200" b="1" spc="8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THANK YOU</a:t>
            </a:r>
            <a:endParaRPr lang="en-US" sz="5200"/>
          </a:p>
        </p:txBody>
      </p:sp>
      <p:sp>
        <p:nvSpPr>
          <p:cNvPr id="215212416" name="Text 23"/>
          <p:cNvSpPr/>
          <p:nvPr/>
        </p:nvSpPr>
        <p:spPr bwMode="auto"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spc="400">
                <a:solidFill>
                  <a:srgbClr val="00D4FF"/>
                </a:solidFill>
                <a:latin typeface="Calibri"/>
                <a:ea typeface="Calibri"/>
                <a:cs typeface="Calibri"/>
              </a:rPr>
              <a:t>Questions &amp; Answers</a:t>
            </a:r>
            <a:endParaRPr lang="en-US" sz="1800"/>
          </a:p>
        </p:txBody>
      </p:sp>
      <p:sp>
        <p:nvSpPr>
          <p:cNvPr id="1771372656" name="Shape 24"/>
          <p:cNvSpPr/>
          <p:nvPr/>
        </p:nvSpPr>
        <p:spPr bwMode="auto">
          <a:xfrm>
            <a:off x="2286000" y="2423160"/>
            <a:ext cx="45720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942106629" name="Text 25"/>
          <p:cNvSpPr/>
          <p:nvPr/>
        </p:nvSpPr>
        <p:spPr bwMode="auto">
          <a:xfrm>
            <a:off x="457200" y="26060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spc="3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PROJECT TEAM</a:t>
            </a:r>
            <a:endParaRPr lang="en-US" sz="1000"/>
          </a:p>
        </p:txBody>
      </p:sp>
      <p:sp>
        <p:nvSpPr>
          <p:cNvPr id="984190290" name="Shape 26"/>
          <p:cNvSpPr/>
          <p:nvPr/>
        </p:nvSpPr>
        <p:spPr bwMode="auto">
          <a:xfrm>
            <a:off x="1379855" y="3020060"/>
            <a:ext cx="27432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79301775" name="Text 27"/>
          <p:cNvSpPr/>
          <p:nvPr/>
        </p:nvSpPr>
        <p:spPr bwMode="auto">
          <a:xfrm>
            <a:off x="1380490" y="3154045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.........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1743378245" name="Text 28"/>
          <p:cNvSpPr/>
          <p:nvPr/>
        </p:nvSpPr>
        <p:spPr bwMode="auto">
          <a:xfrm>
            <a:off x="1371600" y="342836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CE — 1st Year</a:t>
            </a:r>
            <a:endParaRPr lang="en-US" sz="900"/>
          </a:p>
        </p:txBody>
      </p:sp>
      <p:sp>
        <p:nvSpPr>
          <p:cNvPr id="1744829638" name="Shape 29"/>
          <p:cNvSpPr/>
          <p:nvPr/>
        </p:nvSpPr>
        <p:spPr bwMode="auto">
          <a:xfrm>
            <a:off x="5029199" y="3020059"/>
            <a:ext cx="27432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91113202" name="Text 30"/>
          <p:cNvSpPr/>
          <p:nvPr/>
        </p:nvSpPr>
        <p:spPr bwMode="auto">
          <a:xfrm>
            <a:off x="5020945" y="31546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..........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1745546625" name="Text 31"/>
          <p:cNvSpPr/>
          <p:nvPr/>
        </p:nvSpPr>
        <p:spPr bwMode="auto">
          <a:xfrm>
            <a:off x="5029200" y="342900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CE — 1st Year</a:t>
            </a:r>
            <a:endParaRPr lang="en-US" sz="900"/>
          </a:p>
        </p:txBody>
      </p:sp>
      <p:sp>
        <p:nvSpPr>
          <p:cNvPr id="1969791737" name="Shape 32"/>
          <p:cNvSpPr/>
          <p:nvPr/>
        </p:nvSpPr>
        <p:spPr bwMode="auto">
          <a:xfrm>
            <a:off x="0" y="4662805"/>
            <a:ext cx="9144000" cy="366395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1426462" name="Text 35"/>
          <p:cNvSpPr/>
          <p:nvPr/>
        </p:nvSpPr>
        <p:spPr bwMode="auto">
          <a:xfrm>
            <a:off x="457200" y="4705985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4A6A8A"/>
                </a:solidFill>
                <a:latin typeface="Calibri"/>
                <a:ea typeface="Calibri"/>
                <a:cs typeface="Calibri"/>
              </a:rPr>
              <a:t>"Detect. Block. Protect."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Intrusion Detection System</dc:title>
  <dc:subject>PptxGenJS Presentation</dc:subject>
  <dc:creator>PptxGenJS</dc:creator>
  <cp:lastModifiedBy/>
  <cp:revision>5</cp:revision>
  <dcterms:created xsi:type="dcterms:W3CDTF">2026-03-27T17:25:39Z</dcterms:created>
  <dcterms:modified xsi:type="dcterms:W3CDTF">2026-05-01T17:09:07Z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122FA2E57FDDB5131F8DC36937409601_42</vt:lpwstr>
  </property>
  <property fmtid="{D5CDD505-2E9C-101B-9397-08002B2CF9AE}" pid="3" name="KSOProductBuildVer">
    <vt:lpwstr>1033-12.1.23155.23155</vt:lpwstr>
  </property>
</Properties>
</file>